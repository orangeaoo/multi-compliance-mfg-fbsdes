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60" r:id="rId3"/>
    <p:sldId id="256" r:id="rId5"/>
    <p:sldId id="2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7-15T11:04:40"/>
    </inkml:context>
    <inkml:brush xml:id="br0">
      <inkml:brushProperty name="width" value="0.134408327950372" units="cm"/>
      <inkml:brushProperty name="height" value="0.134408327950372" units="cm"/>
      <inkml:brushProperty name="color" value="#ffc000"/>
      <inkml:brushProperty name="ignorePressure" value="0"/>
    </inkml:brush>
  </inkml:definitions>
  <inkml:trace contextRef="#ctx0" brushRef="#br0">2844 299,'7059'0,"-7059"666,-7059-666,7059-666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7-15T11:04:40"/>
    </inkml:context>
    <inkml:brush xml:id="br0">
      <inkml:brushProperty name="width" value="0.134408327950372" units="cm"/>
      <inkml:brushProperty name="height" value="0.134408327950372" units="cm"/>
      <inkml:brushProperty name="color" value="#ffc000"/>
      <inkml:brushProperty name="ignorePressure" value="0"/>
    </inkml:brush>
  </inkml:definitions>
  <inkml:trace contextRef="#ctx0" brushRef="#br0">3137 263,'8569'0,"-8569"737,-8569-737,8569-737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6.png"/><Relationship Id="rId7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8.png"/><Relationship Id="rId11" Type="http://schemas.openxmlformats.org/officeDocument/2006/relationships/customXml" Target="../ink/ink1.xml"/><Relationship Id="rId10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84200" y="1351915"/>
            <a:ext cx="1102360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Progress Report</a:t>
            </a:r>
            <a:b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</a:b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7-15-2024</a:t>
            </a:r>
            <a:endParaRPr lang="en-US" altLang="zh-CN" sz="6600" b="1" dirty="0">
              <a:effectLst/>
              <a:latin typeface="Apple SD Gothic Neo Bold" panose="02000300000000000000" charset="-127"/>
              <a:ea typeface="Apple SD Gothic Neo Bold" panose="02000300000000000000" charset="-127"/>
              <a:cs typeface="Academy Engraved LET" panose="02000000000000000000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51765" y="11049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u="sng">
                <a:latin typeface="Charm Bold" panose="00000500000000000000" charset="0"/>
                <a:cs typeface="Charm Bold" panose="00000500000000000000" charset="0"/>
              </a:rPr>
              <a:t>Problem 1    </a:t>
            </a:r>
            <a:endParaRPr lang="en-US" sz="2800" b="1" u="sng">
              <a:latin typeface="Charm Bold" panose="00000500000000000000" charset="0"/>
              <a:cs typeface="Charm Bold" panose="0000050000000000000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"/>
              <p:cNvSpPr txBox="1"/>
              <p:nvPr/>
            </p:nvSpPr>
            <p:spPr>
              <a:xfrm>
                <a:off x="1837055" y="207645"/>
                <a:ext cx="6696075" cy="37528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sz="2000"/>
                  <a:t>clamp trick</a:t>
                </a:r>
                <a:r>
                  <a:rPr lang="en-US"/>
                  <a:t>:</a:t>
                </a:r>
                <a14:m>
                  <m:oMath xmlns:m="http://schemas.openxmlformats.org/officeDocument/2006/math"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𝑑</m:t>
                    </m:r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055" y="207645"/>
                <a:ext cx="6696075" cy="37528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7"/>
              <p:cNvSpPr txBox="1"/>
              <p:nvPr/>
            </p:nvSpPr>
            <p:spPr>
              <a:xfrm>
                <a:off x="709295" y="846455"/>
                <a:ext cx="9961880" cy="927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en-US"/>
                  <a:t>Should be: </a:t>
                </a:r>
                <a14:m>
                  <m:oMath xmlns:m="http://schemas.openxmlformats.org/officeDocument/2006/math"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𝑑</m:t>
                    </m:r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)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/>
                  <a:t> , in order NOT to change the sign.</a:t>
                </a:r>
                <a:endParaRPr lang="en-US"/>
              </a:p>
              <a:p>
                <a:pPr marL="285750" indent="-285750">
                  <a:buFont typeface="Arial" panose="020B0604020202090204" pitchFamily="34" charset="0"/>
                  <a:buChar char="•"/>
                </a:pPr>
                <a:endParaRPr lang="en-US"/>
              </a:p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en-US">
                    <a:solidFill>
                      <a:schemeClr val="accent2">
                        <a:lumMod val="75000"/>
                      </a:schemeClr>
                    </a:solidFill>
                  </a:rPr>
                  <a:t>How would it work??</a:t>
                </a:r>
                <a:endParaRPr lang="en-US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95" y="846455"/>
                <a:ext cx="9961880" cy="92773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3730" y="2051685"/>
            <a:ext cx="3699510" cy="29394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"/>
              <p:cNvSpPr txBox="1"/>
              <p:nvPr/>
            </p:nvSpPr>
            <p:spPr>
              <a:xfrm>
                <a:off x="1297305" y="3250565"/>
                <a:ext cx="1457325" cy="3568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𝑥</m:t>
                          </m:r>
                        </m:sup>
                      </m:sSubSup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𝑥</m:t>
                          </m:r>
                        </m:sup>
                      </m:sSubSup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en-US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0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305" y="3250565"/>
                <a:ext cx="1457325" cy="3568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10"/>
              <p:cNvSpPr txBox="1"/>
              <p:nvPr/>
            </p:nvSpPr>
            <p:spPr>
              <a:xfrm>
                <a:off x="4556125" y="1372235"/>
                <a:ext cx="7549515" cy="5452110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lumMod val="75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 anchor="t">
                <a:spAutoFit/>
              </a:bodyPr>
              <a:p>
                <a:pPr marL="285750" lvl="0" indent="-285750">
                  <a:buFont typeface="Arial" panose="020B0604020202090204" pitchFamily="34" charset="0"/>
                  <a:buChar char="•"/>
                </a:pPr>
                <a:r>
                  <a:rPr lang="en-US">
                    <a:sym typeface="+mn-ea"/>
                  </a:rPr>
                  <a:t>On a first thought, the initial value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>
                    <a:sym typeface="+mn-ea"/>
                  </a:rPr>
                  <a:t> should be within [-1,0], so that the later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>
                    <a:sym typeface="+mn-ea"/>
                  </a:rPr>
                  <a:t> is more likely to be clamped within [-1,0]. </a:t>
                </a:r>
                <a:endParaRPr lang="en-US">
                  <a:sym typeface="+mn-ea"/>
                </a:endParaRPr>
              </a:p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en-US" b="1">
                    <a:sym typeface="+mn-ea"/>
                  </a:rPr>
                  <a:t>However</a:t>
                </a:r>
                <a:r>
                  <a:rPr lang="en-US">
                    <a:sym typeface="+mn-ea"/>
                  </a:rPr>
                  <a:t>, since w</a:t>
                </a:r>
                <a:r>
                  <a:rPr lang="en-US">
                    <a:sym typeface="+mn-ea"/>
                  </a:rPr>
                  <a:t>e cannot gaurantee the values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>
                    <a:sym typeface="+mn-ea"/>
                  </a:rPr>
                  <a:t> , so 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>
                    <a:sym typeface="+mn-ea"/>
                  </a:rPr>
                  <a:t> gets close to 0 or -1, the increment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>
                    <a:sym typeface="+mn-ea"/>
                  </a:rPr>
                  <a:t> could still be large. </a:t>
                </a:r>
                <a:endParaRPr lang="en-US">
                  <a:sym typeface="+mn-ea"/>
                </a:endParaRPr>
              </a:p>
              <a:p>
                <a:pPr lvl="1" indent="0">
                  <a:buFont typeface="Arial" panose="020B0604020202090204" pitchFamily="34" charset="0"/>
                  <a:buNone/>
                </a:pPr>
                <a:r>
                  <a:rPr 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+mn-ea"/>
                  </a:rPr>
                  <a:t>Say:</a:t>
                </a: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endParaRPr>
              </a:p>
              <a:p>
                <a:pPr lvl="1" indent="0">
                  <a:buFont typeface="Arial" panose="020B0604020202090204" pitchFamily="34" charset="0"/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+mn-ea"/>
                  </a:rPr>
                  <a:t>=-0.99 while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+mn-ea"/>
                  </a:rPr>
                  <a:t>=2 --&gt;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+</m:t>
                    </m:r>
                    <m:sSubSup>
                      <m:sSubSupPr>
                        <m:ctrlP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)=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.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0099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</m:oMath>
                </a14:m>
                <a:r>
                  <a:rPr 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𝑑𝑌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=−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.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0098</m:t>
                    </m:r>
                    <m:r>
                      <a:rPr lang="en-US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DejaVu Math TeX Gyre" panose="02000503000000000000" charset="0"/>
                        <a:cs typeface="DejaVu Math TeX Gyre" panose="02000503000000000000" charset="0"/>
                      </a:rPr>
                      <m:t> </m:t>
                    </m:r>
                  </m:oMath>
                </a14:m>
                <a:r>
                  <a:rPr 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+mn-ea"/>
                  </a:rPr>
                  <a:t> </a:t>
                </a: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endParaRPr>
              </a:p>
              <a:p>
                <a:pPr lvl="1" indent="0">
                  <a:buFont typeface="Arial" panose="020B0604020202090204" pitchFamily="34" charset="0"/>
                  <a:buNone/>
                </a:pPr>
                <a:r>
                  <a:rPr 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+mn-ea"/>
                  </a:rPr>
                  <a:t>(in fact,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+mn-ea"/>
                  </a:rPr>
                  <a:t>&gt;1.0101,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𝑑𝑌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+mn-ea"/>
                  </a:rPr>
                  <a:t> will always exceed 0.01, so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+mn-ea"/>
                  </a:rPr>
                  <a:t> jumps out of the range [-1,0])</a:t>
                </a: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sym typeface="+mn-ea"/>
                </a:endParaRPr>
              </a:p>
              <a:p>
                <a:pPr marL="285750" lvl="0" indent="-285750">
                  <a:buFont typeface="Arial" panose="020B0604020202090204" pitchFamily="34" charset="0"/>
                  <a:buChar char="•"/>
                </a:pPr>
                <a:r>
                  <a:rPr lang="en-US">
                    <a:sym typeface="+mn-ea"/>
                  </a:rPr>
                  <a:t>So, even if I normalized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>
                    <a:sym typeface="+mn-ea"/>
                  </a:rPr>
                  <a:t> by </a:t>
                </a:r>
                <a:endParaRPr lang="en-US">
                  <a:sym typeface="+mn-ea"/>
                </a:endParaRPr>
              </a:p>
              <a:p>
                <a:pPr lvl="0" indent="0">
                  <a:buFont typeface="Arial" panose="020B0604020202090204" pitchFamily="34" charset="0"/>
                  <a:buNone/>
                </a:pPr>
                <a:r>
                  <a:rPr lang="en-US">
                    <a:sym typeface="+mn-ea"/>
                  </a:rPr>
                  <a:t>the termianl values still come out of the range [-1,0]:</a:t>
                </a:r>
                <a:endParaRPr lang="en-US">
                  <a:sym typeface="+mn-ea"/>
                </a:endParaRPr>
              </a:p>
              <a:p>
                <a:pPr marL="285750" lvl="0" indent="-285750">
                  <a:buFont typeface="Arial" panose="020B0604020202090204" pitchFamily="34" charset="0"/>
                  <a:buChar char="•"/>
                </a:pPr>
                <a:endParaRPr lang="en-US">
                  <a:sym typeface="+mn-ea"/>
                </a:endParaRPr>
              </a:p>
              <a:p>
                <a:pPr marL="285750" lvl="0" indent="-285750">
                  <a:buFont typeface="Arial" panose="020B0604020202090204" pitchFamily="34" charset="0"/>
                  <a:buChar char="•"/>
                </a:pPr>
                <a:endParaRPr lang="en-US">
                  <a:sym typeface="+mn-ea"/>
                </a:endParaRPr>
              </a:p>
              <a:p>
                <a:pPr marL="285750" lvl="0" indent="-285750">
                  <a:buFont typeface="Arial" panose="020B0604020202090204" pitchFamily="34" charset="0"/>
                  <a:buChar char="•"/>
                </a:pPr>
                <a:r>
                  <a:rPr lang="en-US">
                    <a:sym typeface="+mn-ea"/>
                  </a:rPr>
                  <a:t>Another intuition is:</a:t>
                </a:r>
                <a:endParaRPr lang="en-US">
                  <a:sym typeface="+mn-ea"/>
                </a:endParaRPr>
              </a:p>
              <a:p>
                <a:pPr marL="742950" lvl="1" indent="-285750">
                  <a:buFont typeface="Arial" panose="020B0604020202090204" pitchFamily="34" charset="0"/>
                  <a:buChar char="•"/>
                </a:pPr>
                <a:r>
                  <a:rPr lang="en-US" sz="1600" i="1">
                    <a:sym typeface="+mn-ea"/>
                  </a:rPr>
                  <a:t>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 i="1">
                    <a:sym typeface="+mn-ea"/>
                  </a:rPr>
                  <a:t>&gt;0,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 i="1">
                    <a:sym typeface="+mn-ea"/>
                  </a:rPr>
                  <a:t>(the gradient) is positive (so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 i="1">
                    <a:sym typeface="+mn-ea"/>
                  </a:rPr>
                  <a:t> is increasing up to 0) --&gt;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+</m:t>
                    </m:r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)&lt;</m:t>
                    </m:r>
                    <m:r>
                      <a:rPr lang="en-US" sz="16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r>
                  <a:rPr lang="en-US" sz="1600" i="1">
                    <a:sym typeface="+mn-ea"/>
                  </a:rPr>
                  <a:t> --&gt;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 i="1">
                    <a:sym typeface="+mn-ea"/>
                  </a:rPr>
                  <a:t> decreases</a:t>
                </a:r>
                <a:endParaRPr lang="en-US" sz="1600" i="1">
                  <a:sym typeface="+mn-ea"/>
                </a:endParaRPr>
              </a:p>
              <a:p>
                <a:pPr marL="742950" lvl="1" indent="-285750">
                  <a:buFont typeface="Arial" panose="020B0604020202090204" pitchFamily="34" charset="0"/>
                  <a:buChar char="•"/>
                </a:pPr>
                <a:r>
                  <a:rPr lang="en-US" sz="1600" i="1">
                    <a:sym typeface="+mn-ea"/>
                  </a:rPr>
                  <a:t>vise versa</a:t>
                </a:r>
                <a:endParaRPr lang="en-US" sz="1600" i="1">
                  <a:sym typeface="+mn-ea"/>
                </a:endParaRPr>
              </a:p>
              <a:p>
                <a:pPr marL="285750" lvl="0" indent="-285750">
                  <a:buFont typeface="Arial" panose="020B0604020202090204" pitchFamily="34" charset="0"/>
                  <a:buChar char="•"/>
                </a:pPr>
                <a:r>
                  <a:rPr lang="en-US">
                    <a:sym typeface="+mn-ea"/>
                  </a:rPr>
                  <a:t>So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>
                    <a:sym typeface="+mn-ea"/>
                  </a:rPr>
                  <a:t> doesn’t have to be within [-1,0]. </a:t>
                </a:r>
                <a:r>
                  <a:rPr lang="en-US" b="1">
                    <a:sym typeface="+mn-ea"/>
                  </a:rPr>
                  <a:t>However</a:t>
                </a:r>
                <a:r>
                  <a:rPr lang="en-US">
                    <a:sym typeface="+mn-ea"/>
                  </a:rPr>
                  <a:t>, this 2nd intuition is also problematic: </a:t>
                </a:r>
                <a:endParaRPr lang="en-US">
                  <a:sym typeface="+mn-ea"/>
                </a:endParaRPr>
              </a:p>
              <a:p>
                <a:pPr marL="742950" lvl="1" indent="-285750"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 i="1">
                    <a:sym typeface="+mn-ea"/>
                  </a:rPr>
                  <a:t> is the diffusion term, not the drift.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𝑑𝑊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 i="1">
                    <a:sym typeface="+mn-ea"/>
                  </a:rPr>
                  <a:t> is random,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 i="1">
                    <a:sym typeface="+mn-ea"/>
                  </a:rPr>
                  <a:t> cannot indicate the trend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sz="1600" i="1">
                    <a:sym typeface="+mn-ea"/>
                  </a:rPr>
                  <a:t>.</a:t>
                </a:r>
                <a:endParaRPr lang="en-US" sz="1600" i="1">
                  <a:sym typeface="+mn-ea"/>
                </a:endParaRPr>
              </a:p>
            </p:txBody>
          </p:sp>
        </mc:Choice>
        <mc:Fallback>
          <p:sp>
            <p:nvSpPr>
              <p:cNvPr id="11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125" y="1372235"/>
                <a:ext cx="7549515" cy="5452110"/>
              </a:xfrm>
              <a:prstGeom prst="rect">
                <a:avLst/>
              </a:prstGeom>
              <a:blipFill rotWithShape="1">
                <a:blip r:embed="rId6"/>
                <a:stretch>
                  <a:fillRect l="-135" t="-175" r="-126" b="-175"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lumMod val="75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2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152130" y="3556000"/>
            <a:ext cx="3581400" cy="254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67580" y="4122420"/>
            <a:ext cx="6965950" cy="21653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82245" y="5396865"/>
            <a:ext cx="4603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4">
                    <a:lumMod val="50000"/>
                  </a:schemeClr>
                </a:solidFill>
              </a:rPr>
              <a:t>So, maybe we should not use this clamp directly, but with the help of yx_tilde.</a:t>
            </a:r>
            <a:endParaRPr lang="en-US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275965" y="1616075"/>
            <a:ext cx="118364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0" name="Ink 19"/>
              <p14:cNvContentPartPr/>
              <p14:nvPr/>
            </p14:nvContentPartPr>
            <p14:xfrm>
              <a:off x="1805940" y="189865"/>
              <a:ext cx="4483100" cy="423545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12"/>
            </p:blipFill>
            <p:spPr>
              <a:xfrm>
                <a:off x="1805940" y="189865"/>
                <a:ext cx="4483100" cy="42354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51765" y="11049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u="sng">
                <a:latin typeface="Charm Bold" panose="00000500000000000000" charset="0"/>
                <a:cs typeface="Charm Bold" panose="00000500000000000000" charset="0"/>
              </a:rPr>
              <a:t>Problem 2  </a:t>
            </a:r>
            <a:endParaRPr lang="en-US" sz="2800" b="1" u="sng">
              <a:latin typeface="Charm Bold" panose="00000500000000000000" charset="0"/>
              <a:cs typeface="Charm Bold" panose="00000500000000000000" charset="0"/>
            </a:endParaRPr>
          </a:p>
        </p:txBody>
      </p:sp>
      <p:sp>
        <p:nvSpPr>
          <p:cNvPr id="6" name="Text Box 5"/>
          <p:cNvSpPr txBox="1"/>
          <p:nvPr>
            <p:custDataLst>
              <p:tags r:id="rId1"/>
            </p:custDataLst>
          </p:nvPr>
        </p:nvSpPr>
        <p:spPr>
          <a:xfrm>
            <a:off x="2149475" y="207645"/>
            <a:ext cx="6696075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Loss function: MSE or Binary_cross_entopy?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Ink 2"/>
              <p14:cNvContentPartPr/>
              <p14:nvPr/>
            </p14:nvContentPartPr>
            <p14:xfrm>
              <a:off x="1991995" y="167005"/>
              <a:ext cx="5441950" cy="468630"/>
            </p14:xfrm>
          </p:contentPart>
        </mc:Choice>
        <mc:Fallback xmlns="">
          <p:pic>
            <p:nvPicPr>
              <p:cNvPr id="3" name="Ink 2"/>
            </p:nvPicPr>
            <p:blipFill>
              <a:blip r:embed="rId3"/>
            </p:blipFill>
            <p:spPr>
              <a:xfrm>
                <a:off x="1991995" y="167005"/>
                <a:ext cx="5441950" cy="46863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"/>
              <p:cNvSpPr txBox="1"/>
              <p:nvPr/>
            </p:nvSpPr>
            <p:spPr>
              <a:xfrm>
                <a:off x="854075" y="1236980"/>
                <a:ext cx="8813800" cy="2071370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p>
                <a:r>
                  <a:rPr lang="en-US">
                    <a:ln>
                      <a:noFill/>
                    </a:ln>
                  </a:rPr>
                  <a:t>Since the learning target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𝑋</m:t>
                        </m:r>
                      </m:sup>
                    </m:sSubSup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𝜕</m:t>
                    </m:r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𝑔</m:t>
                    </m:r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𝑇</m:t>
                        </m:r>
                      </m:sub>
                    </m:sSub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1</m:t>
                            </m:r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n>
                                      <a:noFill/>
                                    </a:ln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n>
                                      <a:noFill/>
                                    </a:ln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n>
                                      <a:noFill/>
                                    </a:ln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&lt;</m:t>
                            </m:r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.</m:t>
                            </m:r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 </m:t>
                            </m:r>
                            <m:sSub>
                              <m:sSubPr>
                                <m:ctrlPr>
                                  <a:rPr lang="en-US" i="1">
                                    <a:ln>
                                      <a:noFill/>
                                    </a:ln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n>
                                      <a:noFill/>
                                    </a:ln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n>
                                      <a:noFill/>
                                    </a:ln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&gt;</m:t>
                            </m:r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.</m:t>
                            </m:r>
                            <m:r>
                              <a:rPr lang="en-US" i="1">
                                <a:ln>
                                  <a:noFill/>
                                </a:ln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9</m:t>
                            </m:r>
                          </m:e>
                        </m:eqArr>
                      </m:e>
                    </m:d>
                  </m:oMath>
                </a14:m>
                <a:r>
                  <a:rPr lang="en-US">
                    <a:ln>
                      <a:noFill/>
                    </a:ln>
                  </a:rPr>
                  <a:t>, it can be viewed as a classification problem, where MSE won’t work well(since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n>
                              <a:noFill/>
                            </a:ln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𝑋</m:t>
                        </m:r>
                      </m:sup>
                    </m:sSubSup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∈[</m:t>
                    </m:r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−</m:t>
                    </m:r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  <m:r>
                      <a:rPr lang="en-US" i="1">
                        <a:ln>
                          <a:noFill/>
                        </a:ln>
                        <a:latin typeface="DejaVu Math TeX Gyre" panose="02000503000000000000" charset="0"/>
                        <a:cs typeface="DejaVu Math TeX Gyre" panose="02000503000000000000" charset="0"/>
                      </a:rPr>
                      <m:t>]</m:t>
                    </m:r>
                  </m:oMath>
                </a14:m>
                <a:r>
                  <a:rPr lang="en-US">
                    <a:ln>
                      <a:noFill/>
                    </a:ln>
                  </a:rPr>
                  <a:t> is very small, so the convergence of loss is detrimented)</a:t>
                </a:r>
                <a:endParaRPr lang="en-US">
                  <a:ln>
                    <a:noFill/>
                  </a:ln>
                </a:endParaRPr>
              </a:p>
              <a:p>
                <a:endParaRPr lang="en-US">
                  <a:ln>
                    <a:noFill/>
                  </a:ln>
                </a:endParaRPr>
              </a:p>
              <a:p>
                <a:r>
                  <a:rPr lang="en-US">
                    <a:ln>
                      <a:noFill/>
                    </a:ln>
                    <a:solidFill>
                      <a:schemeClr val="accent4">
                        <a:lumMod val="50000"/>
                      </a:schemeClr>
                    </a:solidFill>
                  </a:rPr>
                  <a:t>So maybe we should use loss=BCEloss( ) or BCEwithlogitsloss( ), which is more numerically stable?</a:t>
                </a:r>
                <a:endParaRPr lang="en-US">
                  <a:ln>
                    <a:noFill/>
                  </a:ln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75" y="1236980"/>
                <a:ext cx="8813800" cy="2071370"/>
              </a:xfrm>
              <a:prstGeom prst="rect">
                <a:avLst/>
              </a:prstGeom>
              <a:blipFill rotWithShape="1">
                <a:blip r:embed="rId4"/>
                <a:stretch>
                  <a:fillRect l="-72" t="-307" r="-72" b="-307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1758</Words>
  <Application>WPS Presentation</Application>
  <PresentationFormat>宽屏</PresentationFormat>
  <Paragraphs>37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8" baseType="lpstr">
      <vt:lpstr>Arial</vt:lpstr>
      <vt:lpstr>宋体</vt:lpstr>
      <vt:lpstr>Wingdings</vt:lpstr>
      <vt:lpstr>Charm Bold</vt:lpstr>
      <vt:lpstr>DejaVu Math TeX Gyre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SD Gothic Neo Bold</vt:lpstr>
      <vt:lpstr>Academy Engraved LET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敖樱芝</cp:lastModifiedBy>
  <cp:revision>10</cp:revision>
  <dcterms:created xsi:type="dcterms:W3CDTF">2024-07-24T20:51:33Z</dcterms:created>
  <dcterms:modified xsi:type="dcterms:W3CDTF">2024-07-24T20:51:33Z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1033-6.8.2.8850</vt:lpwstr>
  </property>
  <property fmtid="{D5CDD505-2E9C-101B-9397-08002B2CF9AE}" pid="3" name="ICV">
    <vt:lpwstr>AD920DCC5CA9FC33482A9566861BAB78_41</vt:lpwstr>
  </property>
</Properties>
</file>