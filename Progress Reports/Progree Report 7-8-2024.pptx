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1"/>
  </p:handoutMasterIdLst>
  <p:sldIdLst>
    <p:sldId id="262" r:id="rId3"/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3" userDrawn="1">
          <p15:clr>
            <a:srgbClr val="A4A3A4"/>
          </p15:clr>
        </p15:guide>
        <p15:guide id="2" pos="38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33"/>
        <p:guide pos="388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7-08T20:11:20"/>
    </inkml:context>
    <inkml:brush xml:id="br0">
      <inkml:brushProperty name="width" value="0.0504031263457404" units="cm"/>
      <inkml:brushProperty name="height" value="0.0504031263457404" units="cm"/>
      <inkml:brushProperty name="color" value="#f80600"/>
      <inkml:brushProperty name="ignorePressure" value="0"/>
    </inkml:brush>
  </inkml:definitions>
  <inkml:trace contextRef="#ctx0" brushRef="#br0">877 3359,'1935'0,"-1935"512,-1935-512,1935-512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7-08T20:11:20"/>
    </inkml:context>
    <inkml:brush xml:id="br0">
      <inkml:brushProperty name="width" value="0.0504031263457404" units="cm"/>
      <inkml:brushProperty name="height" value="0.0504031263457404" units="cm"/>
      <inkml:brushProperty name="color" value="#f80600"/>
      <inkml:brushProperty name="ignorePressure" value="0"/>
    </inkml:brush>
  </inkml:definitions>
  <inkml:trace contextRef="#ctx0" brushRef="#br0">745 5333,'8483'0,"-8483"360,-8483-360,8483-360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7-08T20:11:20"/>
    </inkml:context>
    <inkml:brush xml:id="br0">
      <inkml:brushProperty name="width" value="0.0504031263457404" units="cm"/>
      <inkml:brushProperty name="height" value="0.0504031263457404" units="cm"/>
      <inkml:brushProperty name="color" value="#f80600"/>
      <inkml:brushProperty name="ignorePressure" value="0"/>
    </inkml:brush>
  </inkml:definitions>
  <inkml:trace contextRef="#ctx0" brushRef="#br0">10102 1176,'4365'0,"-4365"1859,-4365-1859,4365-1859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7-08T20:11:20"/>
    </inkml:context>
    <inkml:brush xml:id="br0">
      <inkml:brushProperty name="width" value="0.0504031263457404" units="cm"/>
      <inkml:brushProperty name="height" value="0.0504031263457404" units="cm"/>
      <inkml:brushProperty name="color" value="#f80600"/>
      <inkml:brushProperty name="ignorePressure" value="0"/>
    </inkml:brush>
  </inkml:definitions>
  <inkml:trace contextRef="#ctx0" brushRef="#br0">9136 6415,'3264'0,"-3264"1005,-3264-1005,3264-1005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7-08T20:11:20"/>
    </inkml:context>
    <inkml:brush xml:id="br0">
      <inkml:brushProperty name="width" value="0.0504031263457404" units="cm"/>
      <inkml:brushProperty name="height" value="0.0504031263457404" units="cm"/>
      <inkml:brushProperty name="color" value="#f80600"/>
      <inkml:brushProperty name="ignorePressure" value="0"/>
    </inkml:brush>
  </inkml:definitions>
  <inkml:trace contextRef="#ctx0" brushRef="#br0">10010 7706,'1973'0,"-1973"359,-1973-359,1973-359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6.png"/><Relationship Id="rId7" Type="http://schemas.openxmlformats.org/officeDocument/2006/relationships/tags" Target="../tags/tag6.xml"/><Relationship Id="rId6" Type="http://schemas.openxmlformats.org/officeDocument/2006/relationships/image" Target="../media/image5.png"/><Relationship Id="rId5" Type="http://schemas.openxmlformats.org/officeDocument/2006/relationships/tags" Target="../tags/tag5.xml"/><Relationship Id="rId4" Type="http://schemas.openxmlformats.org/officeDocument/2006/relationships/image" Target="../media/image4.png"/><Relationship Id="rId3" Type="http://schemas.openxmlformats.org/officeDocument/2006/relationships/tags" Target="../tags/tag4.xml"/><Relationship Id="rId2" Type="http://schemas.openxmlformats.org/officeDocument/2006/relationships/image" Target="../media/image3.png"/><Relationship Id="rId10" Type="http://schemas.openxmlformats.org/officeDocument/2006/relationships/notesSlide" Target="../notesSlides/notesSlide3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0.png"/><Relationship Id="rId7" Type="http://schemas.openxmlformats.org/officeDocument/2006/relationships/tags" Target="../tags/tag10.xml"/><Relationship Id="rId6" Type="http://schemas.openxmlformats.org/officeDocument/2006/relationships/image" Target="../media/image9.png"/><Relationship Id="rId5" Type="http://schemas.openxmlformats.org/officeDocument/2006/relationships/tags" Target="../tags/tag9.xml"/><Relationship Id="rId4" Type="http://schemas.openxmlformats.org/officeDocument/2006/relationships/image" Target="../media/image8.png"/><Relationship Id="rId3" Type="http://schemas.openxmlformats.org/officeDocument/2006/relationships/tags" Target="../tags/tag8.xml"/><Relationship Id="rId2" Type="http://schemas.openxmlformats.org/officeDocument/2006/relationships/image" Target="../media/image7.png"/><Relationship Id="rId10" Type="http://schemas.openxmlformats.org/officeDocument/2006/relationships/notesSlide" Target="../notesSlides/notesSlide4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4.png"/><Relationship Id="rId7" Type="http://schemas.openxmlformats.org/officeDocument/2006/relationships/tags" Target="../tags/tag14.xml"/><Relationship Id="rId6" Type="http://schemas.openxmlformats.org/officeDocument/2006/relationships/image" Target="../media/image13.png"/><Relationship Id="rId5" Type="http://schemas.openxmlformats.org/officeDocument/2006/relationships/tags" Target="../tags/tag13.xml"/><Relationship Id="rId4" Type="http://schemas.openxmlformats.org/officeDocument/2006/relationships/image" Target="../media/image12.png"/><Relationship Id="rId3" Type="http://schemas.openxmlformats.org/officeDocument/2006/relationships/tags" Target="../tags/tag12.xml"/><Relationship Id="rId2" Type="http://schemas.openxmlformats.org/officeDocument/2006/relationships/image" Target="../media/image11.png"/><Relationship Id="rId10" Type="http://schemas.openxmlformats.org/officeDocument/2006/relationships/notesSlide" Target="../notesSlides/notesSlide5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customXml" Target="../ink/ink3.xml"/><Relationship Id="rId8" Type="http://schemas.openxmlformats.org/officeDocument/2006/relationships/image" Target="../media/image18.png"/><Relationship Id="rId7" Type="http://schemas.openxmlformats.org/officeDocument/2006/relationships/customXml" Target="../ink/ink2.xml"/><Relationship Id="rId6" Type="http://schemas.openxmlformats.org/officeDocument/2006/relationships/image" Target="../media/image17.png"/><Relationship Id="rId5" Type="http://schemas.openxmlformats.org/officeDocument/2006/relationships/customXml" Target="../ink/ink1.xml"/><Relationship Id="rId4" Type="http://schemas.openxmlformats.org/officeDocument/2006/relationships/image" Target="../media/image16.png"/><Relationship Id="rId3" Type="http://schemas.openxmlformats.org/officeDocument/2006/relationships/tags" Target="../tags/tag16.xml"/><Relationship Id="rId20" Type="http://schemas.openxmlformats.org/officeDocument/2006/relationships/notesSlide" Target="../notesSlides/notesSlide6.xml"/><Relationship Id="rId2" Type="http://schemas.openxmlformats.org/officeDocument/2006/relationships/image" Target="../media/image15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23.png"/><Relationship Id="rId17" Type="http://schemas.openxmlformats.org/officeDocument/2006/relationships/customXml" Target="../ink/ink5.xml"/><Relationship Id="rId16" Type="http://schemas.openxmlformats.org/officeDocument/2006/relationships/image" Target="../media/image22.png"/><Relationship Id="rId15" Type="http://schemas.openxmlformats.org/officeDocument/2006/relationships/customXml" Target="../ink/ink4.xml"/><Relationship Id="rId14" Type="http://schemas.openxmlformats.org/officeDocument/2006/relationships/image" Target="../media/image21.png"/><Relationship Id="rId13" Type="http://schemas.openxmlformats.org/officeDocument/2006/relationships/tags" Target="../tags/tag18.xml"/><Relationship Id="rId12" Type="http://schemas.openxmlformats.org/officeDocument/2006/relationships/image" Target="../media/image20.png"/><Relationship Id="rId11" Type="http://schemas.openxmlformats.org/officeDocument/2006/relationships/tags" Target="../tags/tag17.xml"/><Relationship Id="rId10" Type="http://schemas.openxmlformats.org/officeDocument/2006/relationships/image" Target="../media/image19.png"/><Relationship Id="rId1" Type="http://schemas.openxmlformats.org/officeDocument/2006/relationships/tags" Target="../tags/tag15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1" Type="http://schemas.openxmlformats.org/officeDocument/2006/relationships/tags" Target="../tags/tag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584200" y="1351915"/>
            <a:ext cx="11023600" cy="4154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200000"/>
              </a:lnSpc>
            </a:pPr>
            <a:r>
              <a:rPr lang="en-US" altLang="zh-CN" sz="6600" b="1" dirty="0">
                <a:effectLst/>
                <a:latin typeface="Apple SD Gothic Neo Bold" panose="02000300000000000000" charset="-127"/>
                <a:ea typeface="Apple SD Gothic Neo Bold" panose="02000300000000000000" charset="-127"/>
                <a:cs typeface="Academy Engraved LET" panose="02000000000000000000" charset="0"/>
                <a:sym typeface="+mn-ea"/>
              </a:rPr>
              <a:t>Progress Report</a:t>
            </a:r>
            <a:br>
              <a:rPr lang="en-US" altLang="zh-CN" sz="6600" b="1" dirty="0">
                <a:effectLst/>
                <a:latin typeface="Apple SD Gothic Neo Bold" panose="02000300000000000000" charset="-127"/>
                <a:ea typeface="Apple SD Gothic Neo Bold" panose="02000300000000000000" charset="-127"/>
                <a:cs typeface="Academy Engraved LET" panose="02000000000000000000" charset="0"/>
                <a:sym typeface="+mn-ea"/>
              </a:rPr>
            </a:br>
            <a:r>
              <a:rPr lang="en-US" altLang="zh-CN" sz="6600" b="1" dirty="0">
                <a:effectLst/>
                <a:latin typeface="Apple SD Gothic Neo Bold" panose="02000300000000000000" charset="-127"/>
                <a:ea typeface="Apple SD Gothic Neo Bold" panose="02000300000000000000" charset="-127"/>
                <a:cs typeface="Academy Engraved LET" panose="02000000000000000000" charset="0"/>
                <a:sym typeface="+mn-ea"/>
              </a:rPr>
              <a:t>7-8-2024</a:t>
            </a:r>
            <a:endParaRPr lang="en-US" altLang="zh-CN" sz="6600" b="1" dirty="0">
              <a:effectLst/>
              <a:latin typeface="Apple SD Gothic Neo Bold" panose="02000300000000000000" charset="-127"/>
              <a:ea typeface="Apple SD Gothic Neo Bold" panose="02000300000000000000" charset="-127"/>
              <a:cs typeface="Academy Engraved LET" panose="02000000000000000000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18135" y="492125"/>
            <a:ext cx="11586845" cy="6553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90204" pitchFamily="34" charset="0"/>
              <a:buNone/>
            </a:pPr>
            <a:r>
              <a:rPr lang="en-US" sz="2400"/>
              <a:t>Explanation of parameters</a:t>
            </a:r>
            <a:endParaRPr lang="en-US" sz="240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/>
              <a:t>target_type:</a:t>
            </a:r>
            <a:endParaRPr 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/>
              <a:t>‘sigmoid’: -sigmoid((K-x)/delta)</a:t>
            </a:r>
            <a:endParaRPr 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/>
              <a:t>‘indicator’: -indicator{(K-x)&gt;0}</a:t>
            </a:r>
            <a:endParaRPr 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/>
              <a:t>‘original’: (K-x)  </a:t>
            </a:r>
            <a:r>
              <a:rPr lang="en-US" i="1">
                <a:solidFill>
                  <a:schemeClr val="tx1">
                    <a:lumMod val="65000"/>
                    <a:lumOff val="35000"/>
                  </a:schemeClr>
                </a:solidFill>
              </a:rPr>
              <a:t>(learnt by Yx_tilde, not Yx)</a:t>
            </a:r>
            <a:endParaRPr lang="en-US" i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lvl="0" indent="-285750">
              <a:buFont typeface="Arial" panose="020B0604020202090204" pitchFamily="34" charset="0"/>
              <a:buChar char="•"/>
            </a:pPr>
            <a:r>
              <a:rPr lang="en-US"/>
              <a:t>trick:</a:t>
            </a:r>
            <a:endParaRPr 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/>
              <a:t>‘clamp’: clamp with dYx=</a:t>
            </a:r>
            <a:r>
              <a:rPr lang="en-US">
                <a:solidFill>
                  <a:schemeClr val="accent4">
                    <a:lumMod val="50000"/>
                  </a:schemeClr>
                </a:solidFill>
              </a:rPr>
              <a:t>Yx*(1+Yx)*</a:t>
            </a:r>
            <a:r>
              <a:rPr lang="en-US"/>
              <a:t>Zx*dB </a:t>
            </a:r>
            <a:r>
              <a:rPr lang="en-US" i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(without using Yx_tilde)</a:t>
            </a:r>
            <a:endParaRPr lang="en-US" i="1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/>
              <a:t>‘logit’: use Yx_tilde=logit(-Yx) --&gt; dYx_tilde=</a:t>
            </a:r>
            <a:endParaRPr 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/>
              <a:t>‘no’: learn dirctly</a:t>
            </a:r>
            <a:endParaRPr lang="en-US"/>
          </a:p>
          <a:p>
            <a:pPr indent="0">
              <a:buFont typeface="Arial" panose="020B0604020202090204" pitchFamily="34" charset="0"/>
              <a:buNone/>
            </a:pPr>
            <a:r>
              <a:rPr lang="en-US" sz="2400">
                <a:sym typeface="+mn-ea"/>
              </a:rPr>
              <a:t>Progress Report:</a:t>
            </a:r>
            <a:endParaRPr lang="en-US" sz="2400"/>
          </a:p>
          <a:p>
            <a:pPr marL="285750" lvl="0" indent="-285750">
              <a:buFont typeface="Arial" panose="020B0604020202090204" pitchFamily="34" charset="0"/>
              <a:buChar char="•"/>
            </a:pPr>
            <a:r>
              <a:rPr lang="en-US">
                <a:sym typeface="+mn-ea"/>
              </a:rPr>
              <a:t>Wraped the codes 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(see sample codes attached)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285750" lvl="0" indent="-285750">
              <a:buFont typeface="Arial" panose="020B0604020202090204" pitchFamily="34" charset="0"/>
              <a:buChar char="•"/>
            </a:pPr>
            <a:r>
              <a:rPr lang="en-US">
                <a:sym typeface="+mn-ea"/>
              </a:rPr>
              <a:t>Add histogram plots 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(to show yx’s convergency to -1/0, and yc’s to 0)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lvl="0" indent="-285750">
              <a:buFont typeface="Arial" panose="020B0604020202090204" pitchFamily="34" charset="0"/>
              <a:buChar char="•"/>
            </a:pPr>
            <a:r>
              <a:rPr lang="en-US">
                <a:sym typeface="+mn-ea"/>
              </a:rPr>
              <a:t>Tried more sets of parameters, and find:</a:t>
            </a:r>
            <a:endParaRPr 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sz="1600">
                <a:sym typeface="+mn-ea"/>
              </a:rPr>
              <a:t>‘Clamp’ works best among all tricks </a:t>
            </a: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(especially “indicator” + “clamp”)</a:t>
            </a:r>
            <a:endParaRPr lang="en-US" sz="160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sz="1600">
                <a:sym typeface="+mn-ea"/>
              </a:rPr>
              <a:t>‘Maxbacth’ = 600 is optimal </a:t>
            </a: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(better than 1000 and 300)</a:t>
            </a:r>
            <a:endParaRPr lang="en-US" sz="160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 sz="1600">
                <a:sym typeface="+mn-ea"/>
              </a:rPr>
              <a:t>‘delta’:</a:t>
            </a:r>
            <a:endParaRPr lang="en-US" sz="1600">
              <a:sym typeface="+mn-ea"/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en-US" sz="1600">
                <a:sym typeface="+mn-ea"/>
              </a:rPr>
              <a:t>For “clamp” +”sigmoid”: optimal = 0.005</a:t>
            </a:r>
            <a:endParaRPr lang="en-US" sz="1600">
              <a:sym typeface="+mn-ea"/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en-US" sz="1600">
                <a:sym typeface="+mn-ea"/>
              </a:rPr>
              <a:t>For ‘logit’: optimal = 0.03 </a:t>
            </a: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(hard to say) </a:t>
            </a:r>
            <a:r>
              <a:rPr lang="en-US" sz="1600">
                <a:sym typeface="+mn-ea"/>
              </a:rPr>
              <a:t>W</a:t>
            </a:r>
            <a:r>
              <a:rPr lang="en-US" sz="1600">
                <a:sym typeface="+mn-ea"/>
              </a:rPr>
              <a:t>hen delta</a:t>
            </a:r>
            <a:r>
              <a:rPr lang="en-US" sz="160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↓, yx and yc indicate </a:t>
            </a:r>
            <a:r>
              <a:rPr lang="en-US" sz="1600" i="1" u="sng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conflicting effects</a:t>
            </a:r>
            <a:endParaRPr lang="en-US" sz="1600" i="1" u="sng">
              <a:sym typeface="+mn-ea"/>
            </a:endParaRPr>
          </a:p>
          <a:p>
            <a:pPr marL="1657350" lvl="3" indent="-285750">
              <a:buFont typeface="Arial" panose="020B0604020202090204" pitchFamily="34" charset="0"/>
              <a:buChar char="•"/>
            </a:pPr>
            <a:r>
              <a:rPr lang="en-US" sz="160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more yx→-1/0</a:t>
            </a:r>
            <a:endParaRPr lang="en-US" sz="1600">
              <a:latin typeface="Arial" panose="020B0604020202090204" pitchFamily="34" charset="0"/>
              <a:cs typeface="Arial" panose="020B0604020202090204" pitchFamily="34" charset="0"/>
              <a:sym typeface="+mn-ea"/>
            </a:endParaRPr>
          </a:p>
          <a:p>
            <a:pPr marL="1657350" lvl="3" indent="-285750">
              <a:buFont typeface="Arial" panose="020B0604020202090204" pitchFamily="34" charset="0"/>
              <a:buChar char="•"/>
            </a:pPr>
            <a:r>
              <a:rPr lang="en-US" sz="1600">
                <a:sym typeface="+mn-ea"/>
              </a:rPr>
              <a:t>less yc</a:t>
            </a:r>
            <a:r>
              <a:rPr lang="en-US" sz="160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→0 (shifted to a positive value ≈ 0.3)</a:t>
            </a:r>
            <a:endParaRPr lang="en-US" sz="1600">
              <a:latin typeface="Arial" panose="020B0604020202090204" pitchFamily="34" charset="0"/>
              <a:cs typeface="Arial" panose="020B0604020202090204" pitchFamily="34" charset="0"/>
              <a:sym typeface="+mn-ea"/>
            </a:endParaRPr>
          </a:p>
          <a:p>
            <a:pPr marL="1200150" lvl="2" indent="-285750">
              <a:buFont typeface="Arial" panose="020B0604020202090204" pitchFamily="34" charset="0"/>
              <a:buChar char="•"/>
            </a:pPr>
            <a:r>
              <a:rPr lang="en-US" sz="160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For plain ‘sigmoid”: optimal=0.01 </a:t>
            </a:r>
            <a:endParaRPr lang="en-US" sz="1600"/>
          </a:p>
          <a:p>
            <a:pPr marL="285750" lvl="0" indent="-285750">
              <a:buFont typeface="Arial" panose="020B0604020202090204" pitchFamily="34" charset="0"/>
              <a:buChar char="•"/>
            </a:pPr>
            <a:r>
              <a:rPr lang="en-US">
                <a:sym typeface="+mn-ea"/>
              </a:rPr>
              <a:t>Saved the models with best performances (no need to run again)</a:t>
            </a:r>
            <a:endParaRPr lang="en-US"/>
          </a:p>
          <a:p>
            <a:pPr lvl="0" indent="0">
              <a:buFont typeface="Arial" panose="020B0604020202090204" pitchFamily="34" charset="0"/>
              <a:buNone/>
            </a:pPr>
            <a:r>
              <a:rPr lang="en-US" sz="2000" i="1"/>
              <a:t>See relatively better results on next pages...</a:t>
            </a:r>
            <a:endParaRPr lang="en-US" sz="2000" i="1"/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559" t="-783" b="-4439"/>
          <a:stretch>
            <a:fillRect/>
          </a:stretch>
        </p:blipFill>
        <p:spPr>
          <a:xfrm>
            <a:off x="5706745" y="2583815"/>
            <a:ext cx="3956685" cy="2559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95045" y="236220"/>
            <a:ext cx="10910267" cy="256032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469265" y="145415"/>
            <a:ext cx="5321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sym typeface="+mn-ea"/>
              </a:rPr>
              <a:t>e.g.</a:t>
            </a:r>
            <a:endParaRPr lang="en-US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328410" y="607060"/>
            <a:ext cx="5695950" cy="40106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334125" y="4707890"/>
            <a:ext cx="5850255" cy="195453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06680" y="5524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400">
                <a:sym typeface="+mn-ea"/>
              </a:rPr>
              <a:t>Good Results -- Top 1 and 2: Clamp</a:t>
            </a:r>
            <a:endParaRPr lang="en-US" sz="2400">
              <a:sym typeface="+mn-ea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6265545" y="133350"/>
            <a:ext cx="0" cy="6612255"/>
          </a:xfrm>
          <a:prstGeom prst="line">
            <a:avLst/>
          </a:prstGeom>
          <a:ln w="22225" cap="flat" cmpd="sng" algn="ctr">
            <a:solidFill>
              <a:schemeClr val="tx1">
                <a:lumMod val="75000"/>
                <a:lumOff val="25000"/>
              </a:schemeClr>
            </a:solidFill>
            <a:prstDash val="dash"/>
            <a:miter lim="800000"/>
            <a:headEnd type="none"/>
            <a:tailEnd type="none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06680" y="515620"/>
            <a:ext cx="5922010" cy="41021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98450" y="4803775"/>
            <a:ext cx="5154295" cy="17633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/>
          <p:nvPr/>
        </p:nvSpPr>
        <p:spPr>
          <a:xfrm>
            <a:off x="106680" y="5524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400">
                <a:sym typeface="+mn-ea"/>
              </a:rPr>
              <a:t>Good Results -- Top 3 and 4: no trick</a:t>
            </a:r>
            <a:endParaRPr lang="en-US" sz="2400">
              <a:sym typeface="+mn-ea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6265545" y="133350"/>
            <a:ext cx="0" cy="6612255"/>
          </a:xfrm>
          <a:prstGeom prst="line">
            <a:avLst/>
          </a:prstGeom>
          <a:ln w="22225" cap="flat" cmpd="sng" algn="ctr">
            <a:solidFill>
              <a:schemeClr val="tx1">
                <a:lumMod val="75000"/>
                <a:lumOff val="25000"/>
              </a:schemeClr>
            </a:solidFill>
            <a:prstDash val="dash"/>
            <a:miter lim="800000"/>
            <a:headEnd type="none"/>
            <a:tailEnd type="none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328410" y="570230"/>
            <a:ext cx="5829935" cy="40443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530340" y="4687570"/>
            <a:ext cx="5562600" cy="187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06680" y="570230"/>
            <a:ext cx="5894070" cy="409321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69545" y="4687570"/>
            <a:ext cx="5647690" cy="21297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/>
          <p:nvPr/>
        </p:nvSpPr>
        <p:spPr>
          <a:xfrm>
            <a:off x="106680" y="55245"/>
            <a:ext cx="112776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400">
                <a:sym typeface="+mn-ea"/>
              </a:rPr>
              <a:t>Good Results -- delta’s Conflicting Effects on Yx and Yc </a:t>
            </a:r>
            <a:endParaRPr lang="en-US" sz="2400">
              <a:sym typeface="+mn-ea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6265545" y="721995"/>
            <a:ext cx="0" cy="6023610"/>
          </a:xfrm>
          <a:prstGeom prst="line">
            <a:avLst/>
          </a:prstGeom>
          <a:ln w="22225" cap="flat" cmpd="sng" algn="ctr">
            <a:solidFill>
              <a:schemeClr val="tx1">
                <a:lumMod val="75000"/>
                <a:lumOff val="25000"/>
              </a:schemeClr>
            </a:solidFill>
            <a:prstDash val="dash"/>
            <a:miter lim="800000"/>
            <a:headEnd type="none"/>
            <a:tailEnd type="none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6680" y="600710"/>
            <a:ext cx="5816600" cy="40894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27330" y="4690110"/>
            <a:ext cx="5575300" cy="18415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381115" y="600710"/>
            <a:ext cx="5842000" cy="40513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607810" y="4652010"/>
            <a:ext cx="5511800" cy="2019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/>
          <p:nvPr/>
        </p:nvSpPr>
        <p:spPr>
          <a:xfrm>
            <a:off x="106680" y="55245"/>
            <a:ext cx="112776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400">
                <a:sym typeface="+mn-ea"/>
              </a:rPr>
              <a:t>Wrapped Codes -- Model &amp; utils</a:t>
            </a:r>
            <a:endParaRPr lang="en-US" sz="2400"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515620"/>
            <a:ext cx="6096000" cy="63290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b="49905"/>
          <a:stretch>
            <a:fillRect/>
          </a:stretch>
        </p:blipFill>
        <p:spPr>
          <a:xfrm>
            <a:off x="5979160" y="528955"/>
            <a:ext cx="5175885" cy="317055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8" name="Ink 7"/>
              <p14:cNvContentPartPr/>
              <p14:nvPr/>
            </p14:nvContentPartPr>
            <p14:xfrm>
              <a:off x="557530" y="2132965"/>
              <a:ext cx="1229360" cy="325755"/>
            </p14:xfrm>
          </p:contentPart>
        </mc:Choice>
        <mc:Fallback xmlns="">
          <p:pic>
            <p:nvPicPr>
              <p:cNvPr id="8" name="Ink 7"/>
            </p:nvPicPr>
            <p:blipFill>
              <a:blip r:embed="rId6"/>
            </p:blipFill>
            <p:spPr>
              <a:xfrm>
                <a:off x="557530" y="2132965"/>
                <a:ext cx="1229360" cy="3257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10" name="Ink 9"/>
              <p14:cNvContentPartPr/>
              <p14:nvPr/>
            </p14:nvContentPartPr>
            <p14:xfrm>
              <a:off x="473710" y="3386455"/>
              <a:ext cx="5387340" cy="229235"/>
            </p14:xfrm>
          </p:contentPart>
        </mc:Choice>
        <mc:Fallback xmlns="">
          <p:pic>
            <p:nvPicPr>
              <p:cNvPr id="10" name="Ink 9"/>
            </p:nvPicPr>
            <p:blipFill>
              <a:blip r:embed="rId8"/>
            </p:blipFill>
            <p:spPr>
              <a:xfrm>
                <a:off x="473710" y="3386455"/>
                <a:ext cx="5387340" cy="2292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11" name="Ink 10"/>
              <p14:cNvContentPartPr/>
              <p14:nvPr/>
            </p14:nvContentPartPr>
            <p14:xfrm>
              <a:off x="6415405" y="746760"/>
              <a:ext cx="2772410" cy="1181100"/>
            </p14:xfrm>
          </p:contentPart>
        </mc:Choice>
        <mc:Fallback xmlns="">
          <p:pic>
            <p:nvPicPr>
              <p:cNvPr id="11" name="Ink 10"/>
            </p:nvPicPr>
            <p:blipFill>
              <a:blip r:embed="rId10"/>
            </p:blipFill>
            <p:spPr>
              <a:xfrm>
                <a:off x="6415405" y="746760"/>
                <a:ext cx="2772410" cy="1181100"/>
              </a:xfrm>
              <a:prstGeom prst="rect"/>
            </p:spPr>
          </p:pic>
        </mc:Fallback>
      </mc:AlternateContent>
      <p:sp>
        <p:nvSpPr>
          <p:cNvPr id="13" name="Text Box 12"/>
          <p:cNvSpPr txBox="1"/>
          <p:nvPr/>
        </p:nvSpPr>
        <p:spPr>
          <a:xfrm>
            <a:off x="6784340" y="3567430"/>
            <a:ext cx="2190750" cy="2711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sz="1600">
                <a:sym typeface="+mn-ea"/>
              </a:rPr>
              <a:t>training......</a:t>
            </a:r>
            <a:endParaRPr lang="en-US" sz="1600">
              <a:sym typeface="+mn-ea"/>
            </a:endParaRPr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5979160" y="4876165"/>
            <a:ext cx="6269355" cy="83375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5979160" y="4034155"/>
            <a:ext cx="6213475" cy="6826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20" name="Ink 19"/>
              <p14:cNvContentPartPr/>
              <p14:nvPr/>
            </p14:nvContentPartPr>
            <p14:xfrm>
              <a:off x="5801360" y="4073525"/>
              <a:ext cx="2073275" cy="638810"/>
            </p14:xfrm>
          </p:contentPart>
        </mc:Choice>
        <mc:Fallback xmlns="">
          <p:pic>
            <p:nvPicPr>
              <p:cNvPr id="20" name="Ink 19"/>
            </p:nvPicPr>
            <p:blipFill>
              <a:blip r:embed="rId16"/>
            </p:blipFill>
            <p:spPr>
              <a:xfrm>
                <a:off x="5801360" y="4073525"/>
                <a:ext cx="2073275" cy="6388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21" name="Ink 20"/>
              <p14:cNvContentPartPr/>
              <p14:nvPr/>
            </p14:nvContentPartPr>
            <p14:xfrm>
              <a:off x="6356350" y="4893310"/>
              <a:ext cx="1253490" cy="228600"/>
            </p14:xfrm>
          </p:contentPart>
        </mc:Choice>
        <mc:Fallback xmlns="">
          <p:pic>
            <p:nvPicPr>
              <p:cNvPr id="21" name="Ink 20"/>
            </p:nvPicPr>
            <p:blipFill>
              <a:blip r:embed="rId18"/>
            </p:blipFill>
            <p:spPr>
              <a:xfrm>
                <a:off x="6356350" y="4893310"/>
                <a:ext cx="1253490" cy="22860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/>
          <p:nvPr/>
        </p:nvSpPr>
        <p:spPr>
          <a:xfrm>
            <a:off x="106680" y="55245"/>
            <a:ext cx="112776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400">
                <a:sym typeface="+mn-ea"/>
              </a:rPr>
              <a:t>Appendix -- other attempts of paramter sets</a:t>
            </a:r>
            <a:endParaRPr lang="en-US" sz="2400"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85115" y="824865"/>
            <a:ext cx="9151620" cy="540067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1159</Words>
  <Application>WPS Presentation</Application>
  <PresentationFormat>宽屏</PresentationFormat>
  <Paragraphs>40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宋体</vt:lpstr>
      <vt:lpstr>Wingdings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Apple SD Gothic Neo Bold</vt:lpstr>
      <vt:lpstr>Academy Engraved LET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敖樱芝</cp:lastModifiedBy>
  <cp:revision>13</cp:revision>
  <dcterms:created xsi:type="dcterms:W3CDTF">2024-07-24T20:51:39Z</dcterms:created>
  <dcterms:modified xsi:type="dcterms:W3CDTF">2024-07-24T20:51:39Z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1033-6.8.2.8850</vt:lpwstr>
  </property>
  <property fmtid="{D5CDD505-2E9C-101B-9397-08002B2CF9AE}" pid="3" name="ICV">
    <vt:lpwstr>6EAFBFB3FB41C16EFA6E8C66CA156C77_41</vt:lpwstr>
  </property>
</Properties>
</file>