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tags" Target="../tags/tag6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5.png"/><Relationship Id="rId13" Type="http://schemas.openxmlformats.org/officeDocument/2006/relationships/tags" Target="../tags/tag13.xml"/><Relationship Id="rId12" Type="http://schemas.openxmlformats.org/officeDocument/2006/relationships/image" Target="../media/image4.png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8.xml"/><Relationship Id="rId7" Type="http://schemas.openxmlformats.org/officeDocument/2006/relationships/image" Target="../media/image8.png"/><Relationship Id="rId6" Type="http://schemas.openxmlformats.org/officeDocument/2006/relationships/tags" Target="../tags/tag17.xml"/><Relationship Id="rId5" Type="http://schemas.openxmlformats.org/officeDocument/2006/relationships/image" Target="../media/image7.png"/><Relationship Id="rId4" Type="http://schemas.openxmlformats.org/officeDocument/2006/relationships/tags" Target="../tags/tag16.xml"/><Relationship Id="rId3" Type="http://schemas.openxmlformats.org/officeDocument/2006/relationships/image" Target="../media/image6.png"/><Relationship Id="rId2" Type="http://schemas.openxmlformats.org/officeDocument/2006/relationships/tags" Target="../tags/tag15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3.xml"/><Relationship Id="rId7" Type="http://schemas.openxmlformats.org/officeDocument/2006/relationships/image" Target="../media/image11.png"/><Relationship Id="rId6" Type="http://schemas.openxmlformats.org/officeDocument/2006/relationships/tags" Target="../tags/tag22.xml"/><Relationship Id="rId5" Type="http://schemas.openxmlformats.org/officeDocument/2006/relationships/image" Target="../media/image10.png"/><Relationship Id="rId4" Type="http://schemas.openxmlformats.org/officeDocument/2006/relationships/tags" Target="../tags/tag21.xml"/><Relationship Id="rId3" Type="http://schemas.openxmlformats.org/officeDocument/2006/relationships/image" Target="../media/image7.png"/><Relationship Id="rId2" Type="http://schemas.openxmlformats.org/officeDocument/2006/relationships/tags" Target="../tags/tag20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4.png"/><Relationship Id="rId12" Type="http://schemas.openxmlformats.org/officeDocument/2006/relationships/tags" Target="../tags/tag25.xml"/><Relationship Id="rId11" Type="http://schemas.openxmlformats.org/officeDocument/2006/relationships/image" Target="../media/image13.png"/><Relationship Id="rId10" Type="http://schemas.openxmlformats.org/officeDocument/2006/relationships/tags" Target="../tags/tag24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30.xml"/><Relationship Id="rId7" Type="http://schemas.openxmlformats.org/officeDocument/2006/relationships/image" Target="../media/image17.png"/><Relationship Id="rId6" Type="http://schemas.openxmlformats.org/officeDocument/2006/relationships/tags" Target="../tags/tag29.xml"/><Relationship Id="rId5" Type="http://schemas.openxmlformats.org/officeDocument/2006/relationships/image" Target="../media/image16.png"/><Relationship Id="rId4" Type="http://schemas.openxmlformats.org/officeDocument/2006/relationships/tags" Target="../tags/tag28.xml"/><Relationship Id="rId3" Type="http://schemas.openxmlformats.org/officeDocument/2006/relationships/image" Target="../media/image15.png"/><Relationship Id="rId2" Type="http://schemas.openxmlformats.org/officeDocument/2006/relationships/tags" Target="../tags/tag27.xml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9.png"/><Relationship Id="rId10" Type="http://schemas.openxmlformats.org/officeDocument/2006/relationships/tags" Target="../tags/tag31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84200" y="1351915"/>
            <a:ext cx="1102360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200000"/>
              </a:lnSpc>
            </a:pP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Progress Report</a:t>
            </a:r>
            <a:b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</a:br>
            <a:r>
              <a:rPr lang="en-US" altLang="zh-CN" sz="66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  <a:sym typeface="+mn-ea"/>
              </a:rPr>
              <a:t>7-23-2024</a:t>
            </a:r>
            <a:endParaRPr lang="en-US" altLang="zh-CN" sz="6600" b="1" dirty="0"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6540" y="-234315"/>
            <a:ext cx="9144000" cy="936625"/>
          </a:xfrm>
        </p:spPr>
        <p:txBody>
          <a:bodyPr>
            <a:normAutofit/>
          </a:bodyPr>
          <a:lstStyle/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Reflection &amp; Summary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Box 2"/>
              <p:cNvSpPr txBox="1"/>
              <p:nvPr/>
            </p:nvSpPr>
            <p:spPr>
              <a:xfrm>
                <a:off x="234950" y="702310"/>
                <a:ext cx="11653520" cy="3518535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0</m:t>
                        </m:r>
                      </m:sub>
                      <m:sup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𝐶</m:t>
                        </m:r>
                      </m:sup>
                    </m:sSubSup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= 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yc</m:t>
                    </m:r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0</m:t>
                    </m:r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model</m:t>
                    </m:r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init</m:t>
                    </m:r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x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  <a:sym typeface="+mn-ea"/>
                  </a:rPr>
                  <a:t>)</a:t>
                </a:r>
                <a:r>
                  <a:rPr lang="en-US" altLang="zh-CN" sz="2000" dirty="0"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  <a:sym typeface="+mn-ea"/>
                  </a:rPr>
                  <a:t> 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2000" i="1" dirty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𝐶</m:t>
                        </m:r>
                      </m:sup>
                    </m:sSubSup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z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c</m:t>
                    </m:r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_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models</m:t>
                    </m:r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x</m:t>
                    </m:r>
                    <m:r>
                      <a:rPr lang="en-US" altLang="zh-CN" sz="2000" dirty="0">
                        <a:solidFill>
                          <a:schemeClr val="accent3">
                            <a:lumMod val="50000"/>
                          </a:schemeClr>
                        </a:solidFill>
                        <a:latin typeface="Apple SD Gothic Neo Regular" panose="02000300000000000000" charset="-127"/>
                        <a:ea typeface="Apple SD Gothic Neo Regular" panose="02000300000000000000" charset="-127"/>
                        <a:cs typeface="Academy Engraved LET" panose="02000000000000000000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  <a:sym typeface="+mn-ea"/>
                  </a:rPr>
                  <a:t> --&gt;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  <a:sym typeface="+mn-ea"/>
                  </a:rPr>
                  <a:t>different initial values </a:t>
                </a:r>
                <a:r>
                  <a:rPr lang="en-US" altLang="zh-CN" sz="1600" i="1" dirty="0">
                    <a:solidFill>
                      <a:schemeClr val="bg2">
                        <a:lumMod val="50000"/>
                      </a:schemeClr>
                    </a:solidFill>
                    <a:latin typeface="Apple SD Gothic Neo" panose="02000300000000000000" charset="-127"/>
                    <a:ea typeface="Apple SD Gothic Neo" panose="02000300000000000000" charset="-127"/>
                    <a:cs typeface="Academy Engraved LET" panose="02000000000000000000" charset="0"/>
                    <a:sym typeface="+mn-ea"/>
                  </a:rPr>
                  <a:t>(since init_c </a:t>
                </a:r>
                <a:r>
                  <a:rPr lang="en-US" altLang="zh-CN" sz="16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Apple SD Gothic Neo" panose="02000300000000000000" charset="-127"/>
                    <a:cs typeface="Arial" panose="020B0604020202090204" pitchFamily="34" charset="0"/>
                    <a:sym typeface="+mn-ea"/>
                  </a:rPr>
                  <a:t>≡</a:t>
                </a:r>
                <a:r>
                  <a:rPr lang="en-US" altLang="zh-CN" sz="1600" i="1" dirty="0">
                    <a:solidFill>
                      <a:schemeClr val="bg2">
                        <a:lumMod val="50000"/>
                      </a:schemeClr>
                    </a:solidFill>
                    <a:latin typeface="Apple SD Gothic Neo" panose="02000300000000000000" charset="-127"/>
                    <a:ea typeface="Apple SD Gothic Neo" panose="02000300000000000000" charset="-127"/>
                    <a:cs typeface="Academy Engraved LET" panose="02000000000000000000" charset="0"/>
                    <a:sym typeface="+mn-ea"/>
                  </a:rPr>
                  <a:t>0) </a:t>
                </a:r>
                <a:endParaRPr lang="en-US" altLang="zh-CN" sz="1600" i="1" dirty="0">
                  <a:solidFill>
                    <a:schemeClr val="bg2">
                      <a:lumMod val="50000"/>
                    </a:schemeClr>
                  </a:solidFill>
                  <a:latin typeface="Apple SD Gothic Neo" panose="02000300000000000000" charset="-127"/>
                  <a:ea typeface="Apple SD Gothic Neo" panose="02000300000000000000" charset="-127"/>
                  <a:cs typeface="Academy Engraved LET" panose="02000000000000000000" charset="0"/>
                  <a:sym typeface="+mn-ea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loss=100*loss_yc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+1*loss_yx</a:t>
                </a:r>
                <a:r>
                  <a:rPr lang="en-US" altLang="zh-CN" sz="1400" i="1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(MSEloss)</a:t>
                </a:r>
                <a:r>
                  <a:rPr lang="en-US" altLang="zh-CN" sz="1600" i="1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/ 1000*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loss_yc+1*loss_yx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</a:t>
                </a:r>
                <a:r>
                  <a:rPr lang="en-US" altLang="zh-CN" sz="1400" i="1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" panose="02000300000000000000" charset="-127"/>
                    <a:ea typeface="Apple SD Gothic Neo" panose="02000300000000000000" charset="-127"/>
                    <a:cs typeface="Apple SD Gothic Neo" panose="02000300000000000000" charset="-127"/>
                    <a:sym typeface="+mn-ea"/>
                  </a:rPr>
                  <a:t>(BCEloss)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--&gt;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𝑇</m:t>
                        </m:r>
                      </m:sub>
                      <m:sup>
                        <m:r>
                          <a:rPr lang="en-US" altLang="zh-CN" sz="20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  <m:t>𝐶</m:t>
                        </m:r>
                      </m:sup>
                    </m:sSubSup>
                    <m:r>
                      <a:rPr lang="en-US" altLang="zh-CN" sz="2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→</m:t>
                    </m:r>
                    <m:r>
                      <a:rPr lang="en-US" altLang="zh-CN" sz="20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DejaVu Math TeX Gyre" panose="02000503000000000000" charset="0"/>
                        <a:ea typeface="宋体" charset="0"/>
                        <a:cs typeface="DejaVu Math TeX Gyre" panose="02000503000000000000" charset="0"/>
                      </a:rPr>
                      <m:t>0</m:t>
                    </m:r>
                  </m:oMath>
                </a14:m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 </a:t>
                </a:r>
                <a:r>
                  <a:rPr lang="en-US" altLang="zh-CN" sz="1600" i="1" dirty="0">
                    <a:solidFill>
                      <a:schemeClr val="bg2">
                        <a:lumMod val="50000"/>
                      </a:schemeClr>
                    </a:solidFill>
                    <a:latin typeface="Apple SD Gothic Neo" panose="02000300000000000000" charset="-127"/>
                    <a:ea typeface="Apple SD Gothic Neo" panose="02000300000000000000" charset="-127"/>
                    <a:cs typeface="Academy Engraved LET" panose="02000000000000000000" charset="0"/>
                    <a:sym typeface="+mn-ea"/>
                  </a:rPr>
                  <a:t>(since loss_yc and loss_yxhave different magnitudes) </a:t>
                </a:r>
                <a:endParaRPr lang="en-US" altLang="zh-CN" sz="1600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“- (1+yx)*yx” + “torch.clamp(-1,0)” --&gt; 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well converge</a:t>
                </a:r>
                <a:endParaRPr lang="en-US" altLang="zh-CN" sz="2000" dirty="0">
                  <a:solidFill>
                    <a:schemeClr val="bg2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0.05delta --&gt;</a:t>
                </a:r>
                <a:r>
                  <a:rPr lang="en-US" altLang="zh-CN" sz="2000" dirty="0">
                    <a:solidFill>
                      <a:schemeClr val="bg2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 better convergency for all processes (than 0.01delta)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pple SD Gothic Neo Regular" panose="02000300000000000000" charset="-127"/>
                  <a:ea typeface="Apple SD Gothic Neo Regular" panose="02000300000000000000" charset="-127"/>
                  <a:cs typeface="Apple SD Gothic Neo Regular" panose="02000300000000000000" charset="-127"/>
                  <a:sym typeface="+mn-ea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Overall Performance Rank: -sigmoid+clamp+MSE &gt; -indicator+clamp+MSE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rial" panose="020B0604020202090204" pitchFamily="34" charset="0"/>
                    <a:ea typeface="Apple SD Gothic Neo Regular" panose="02000300000000000000" charset="-127"/>
                    <a:cs typeface="Arial" panose="020B0604020202090204" pitchFamily="34" charset="0"/>
                    <a:sym typeface="+mn-ea"/>
                  </a:rPr>
                  <a:t>≈ -indicator+BCE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rial" panose="020B0604020202090204" pitchFamily="34" charset="0"/>
                  <a:ea typeface="Apple SD Gothic Neo Regular" panose="02000300000000000000" charset="-127"/>
                  <a:cs typeface="Arial" panose="020B0604020202090204" pitchFamily="34" charset="0"/>
                  <a:sym typeface="+mn-ea"/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90204" pitchFamily="34" charset="0"/>
                  <a:buChar char="•"/>
                </a:pP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Terminal Convergency Rank: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rial" panose="020B0604020202090204" pitchFamily="34" charset="0"/>
                    <a:ea typeface="Apple SD Gothic Neo Regular" panose="02000300000000000000" charset="-127"/>
                    <a:cs typeface="Arial" panose="020B0604020202090204" pitchFamily="34" charset="0"/>
                    <a:sym typeface="+mn-ea"/>
                  </a:rPr>
                  <a:t>-indicator+BCE </a:t>
                </a:r>
                <a:r>
                  <a:rPr lang="en-US" altLang="zh-CN" sz="2000" dirty="0">
                    <a:solidFill>
                      <a:schemeClr val="accent3">
                        <a:lumMod val="50000"/>
                      </a:schemeClr>
                    </a:solidFill>
                    <a:effectLst/>
                    <a:uFillTx/>
                    <a:latin typeface="Apple SD Gothic Neo Regular" panose="02000300000000000000" charset="-127"/>
                    <a:ea typeface="Apple SD Gothic Neo Regular" panose="02000300000000000000" charset="-127"/>
                    <a:cs typeface="Apple SD Gothic Neo Regular" panose="02000300000000000000" charset="-127"/>
                    <a:sym typeface="+mn-ea"/>
                  </a:rPr>
                  <a:t>&gt;&gt;  -indicator+clamp+MSE &gt; -sigmoid+clamp+MSE</a:t>
                </a:r>
                <a:endParaRPr lang="en-US" altLang="zh-CN" sz="2000" dirty="0">
                  <a:solidFill>
                    <a:schemeClr val="accent3">
                      <a:lumMod val="50000"/>
                    </a:schemeClr>
                  </a:solidFill>
                  <a:effectLst/>
                  <a:uFillTx/>
                  <a:latin typeface="Arial" panose="020B0604020202090204" pitchFamily="34" charset="0"/>
                  <a:ea typeface="Apple SD Gothic Neo Regular" panose="02000300000000000000" charset="-127"/>
                  <a:cs typeface="Arial" panose="020B060402020209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50" y="702310"/>
                <a:ext cx="11653520" cy="35185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83540" y="3854450"/>
            <a:ext cx="9144000" cy="73215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20000"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000" dirty="0">
                <a:effectLst/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</a:rPr>
              <a:t>Question:</a:t>
            </a:r>
            <a:endParaRPr lang="en-US" altLang="zh-CN" sz="3000" dirty="0">
              <a:effectLst/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56540" y="4586605"/>
            <a:ext cx="9434195" cy="1955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chemeClr val="accent3">
                    <a:lumMod val="50000"/>
                  </a:schemeClr>
                </a:solidFill>
                <a:effectLst/>
                <a:latin typeface="DejaVu Math TeX Gyre" panose="02000503000000000000" charset="0"/>
                <a:ea typeface="Apple SD Gothic Neo Regular" panose="02000300000000000000" charset="-127"/>
                <a:cs typeface="DejaVu Math TeX Gyre" panose="02000503000000000000" charset="0"/>
              </a:rPr>
              <a:t>dB1 == dB2 ??</a:t>
            </a:r>
            <a:r>
              <a:rPr lang="en-US" altLang="zh-CN" sz="2000" dirty="0">
                <a:solidFill>
                  <a:schemeClr val="accent3">
                    <a:lumMod val="50000"/>
                  </a:schemeClr>
                </a:solidFill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  <a:sym typeface="+mn-ea"/>
              </a:rPr>
              <a:t> --&gt; 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  <a:sym typeface="+mn-ea"/>
              </a:rPr>
              <a:t>so far 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  <a:sym typeface="+mn-ea"/>
              </a:rPr>
              <a:t>the same</a:t>
            </a:r>
            <a:r>
              <a:rPr lang="en-US" altLang="zh-CN" sz="2000" dirty="0">
                <a:solidFill>
                  <a:schemeClr val="bg2">
                    <a:lumMod val="50000"/>
                  </a:schemeClr>
                </a:solidFill>
                <a:latin typeface="Apple SD Gothic Neo Regular" panose="02000300000000000000" charset="-127"/>
                <a:ea typeface="Apple SD Gothic Neo Regular" panose="02000300000000000000" charset="-127"/>
                <a:cs typeface="Academy Engraved LET" panose="02000000000000000000" charset="0"/>
                <a:sym typeface="+mn-ea"/>
              </a:rPr>
              <a:t> dB is used </a:t>
            </a:r>
            <a:r>
              <a:rPr lang="en-US" altLang="zh-CN" sz="1600" i="1" dirty="0">
                <a:solidFill>
                  <a:schemeClr val="bg2">
                    <a:lumMod val="50000"/>
                  </a:schemeClr>
                </a:solidFill>
                <a:latin typeface="Apple SD Gothic Neo" panose="02000300000000000000" charset="-127"/>
                <a:ea typeface="Apple SD Gothic Neo" panose="02000300000000000000" charset="-127"/>
                <a:cs typeface="Academy Engraved LET" panose="02000000000000000000" charset="0"/>
                <a:sym typeface="+mn-ea"/>
              </a:rPr>
              <a:t>(but differen init_x1 and init_x2) </a:t>
            </a:r>
            <a:endParaRPr lang="en-US" altLang="zh-CN" sz="1600" i="1" dirty="0">
              <a:solidFill>
                <a:schemeClr val="bg2">
                  <a:lumMod val="50000"/>
                </a:schemeClr>
              </a:solidFill>
              <a:latin typeface="Apple SD Gothic Neo" panose="02000300000000000000" charset="-127"/>
              <a:ea typeface="Apple SD Gothic Neo" panose="02000300000000000000" charset="-127"/>
              <a:cs typeface="Academy Engraved LET" panose="02000000000000000000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accent3">
                  <a:lumMod val="50000"/>
                </a:schemeClr>
              </a:solidFill>
              <a:effectLst/>
              <a:uFillTx/>
              <a:latin typeface="Apple SD Gothic Neo Regular" panose="02000300000000000000" charset="-127"/>
              <a:ea typeface="Apple SD Gothic Neo Regular" panose="02000300000000000000" charset="-127"/>
              <a:cs typeface="Apple SD Gothic Neo Regular" panose="02000300000000000000" charset="-127"/>
              <a:sym typeface="+mn-ea"/>
            </a:endParaRPr>
          </a:p>
        </p:txBody>
      </p:sp>
      <p:cxnSp>
        <p:nvCxnSpPr>
          <p:cNvPr id="18" name="Straight Connector 17"/>
          <p:cNvCxnSpPr/>
          <p:nvPr>
            <p:custDataLst>
              <p:tags r:id="rId3"/>
            </p:custDataLst>
          </p:nvPr>
        </p:nvCxnSpPr>
        <p:spPr>
          <a:xfrm>
            <a:off x="306705" y="70231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>
            <p:custDataLst>
              <p:tags r:id="rId4"/>
            </p:custDataLst>
          </p:nvPr>
        </p:nvCxnSpPr>
        <p:spPr>
          <a:xfrm>
            <a:off x="306705" y="4586605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>
                <a:spLocks noGrp="1"/>
              </p:cNvSpPr>
              <p:nvPr>
                <p:ph type="ctrTitle"/>
                <p:custDataLst>
                  <p:tags r:id="rId1"/>
                </p:custDataLst>
              </p:nvPr>
            </p:nvSpPr>
            <p:spPr>
              <a:xfrm>
                <a:off x="205105" y="90170"/>
                <a:ext cx="13072110" cy="880110"/>
              </a:xfrm>
            </p:spPr>
            <p:txBody>
              <a:bodyPr>
                <a:normAutofit fontScale="90000"/>
              </a:bodyPr>
              <a:lstStyle/>
              <a:p>
                <a:pPr algn="l"/>
                <a:r>
                  <a:rPr lang="en-US" altLang="zh-CN" sz="2400" b="1" dirty="0">
                    <a:effectLst/>
                    <a:latin typeface="Apple SD Gothic Neo Bold" panose="02000300000000000000" charset="-127"/>
                    <a:ea typeface="Apple SD Gothic Neo Bold" panose="02000300000000000000" charset="-127"/>
                    <a:cs typeface="Academy Engraved LET" panose="02000000000000000000" charset="0"/>
                  </a:rPr>
                  <a:t>01 -   change</a:t>
                </a:r>
                <a:r>
                  <a:rPr lang="en-US" altLang="zh-CN" sz="2400" dirty="0">
                    <a:effectLst/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dirty="0"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dirty="0">
                                <a:effectLst/>
                                <a:latin typeface="DejaVu Math TeX Gyre" panose="02000503000000000000" charset="0"/>
                                <a:ea typeface="Apple SD Gothic Neo Regular" panose="02000300000000000000" charset="-127"/>
                                <a:cs typeface="DejaVu Math TeX Gyre" panose="02000503000000000000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𝐶</m:t>
                                </m:r>
                              </m:sup>
                            </m:sSubSup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= 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𝑦𝑐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0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_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𝑚𝑜𝑑𝑒𝑙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init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_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𝑐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)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𝐶</m:t>
                                </m:r>
                              </m:sup>
                            </m:sSubSup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=        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zc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_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𝑚𝑜𝑑𝑒𝑙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s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(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𝑐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>
                    <a:effectLst/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</a:rPr>
                  <a:t>     </a:t>
                </a:r>
                <a:r>
                  <a:rPr lang="en-US" altLang="zh-CN" sz="2400" b="1" dirty="0">
                    <a:effectLst/>
                    <a:latin typeface="Apple SD Gothic Neo Bold" panose="02000300000000000000" charset="-127"/>
                    <a:ea typeface="Apple SD Gothic Neo Bold" panose="02000300000000000000" charset="-127"/>
                    <a:cs typeface="Academy Engraved LET" panose="02000000000000000000" charset="0"/>
                  </a:rPr>
                  <a:t>--&gt;</a:t>
                </a:r>
                <a:r>
                  <a:rPr lang="en-US" altLang="zh-CN" sz="2400" dirty="0">
                    <a:effectLst/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</a:rPr>
                  <a:t>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dirty="0">
                            <a:effectLst/>
                            <a:latin typeface="DejaVu Math TeX Gyre" panose="02000503000000000000" charset="0"/>
                            <a:ea typeface="Apple SD Gothic Neo Regular" panose="02000300000000000000" charset="-127"/>
                            <a:cs typeface="DejaVu Math TeX Gyre" panose="02000503000000000000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dirty="0">
                                <a:effectLst/>
                                <a:latin typeface="DejaVu Math TeX Gyre" panose="02000503000000000000" charset="0"/>
                                <a:ea typeface="Apple SD Gothic Neo Regular" panose="02000300000000000000" charset="-127"/>
                                <a:cs typeface="DejaVu Math TeX Gyre" panose="02000503000000000000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𝐶</m:t>
                                </m:r>
                              </m:sup>
                            </m:sSubSup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= 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yc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0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model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init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x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)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sz="2400" i="1" dirty="0">
                                    <a:effectLst/>
                                    <a:latin typeface="DejaVu Math TeX Gyre" panose="02000503000000000000" charset="0"/>
                                    <a:ea typeface="Apple SD Gothic Neo Regular" panose="02000300000000000000" charset="-127"/>
                                    <a:cs typeface="DejaVu Math TeX Gyre" panose="02000503000000000000" charset="0"/>
                                  </a:rPr>
                                  <m:t>𝐶</m:t>
                                </m:r>
                              </m:sup>
                            </m:sSubSup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=    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   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 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zc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_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models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x</m:t>
                            </m:r>
                            <m:r>
                              <a:rPr lang="en-US" altLang="zh-CN" sz="2400" dirty="0">
                                <a:latin typeface="Apple SD Gothic Neo Regular" panose="02000300000000000000" charset="-127"/>
                                <a:ea typeface="Apple SD Gothic Neo Regular" panose="02000300000000000000" charset="-127"/>
                                <a:cs typeface="Academy Engraved LET" panose="02000000000000000000" charset="0"/>
                                <a:sym typeface="+mn-ea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>
                    <a:effectLst/>
                    <a:latin typeface="Apple SD Gothic Neo Regular" panose="02000300000000000000" charset="-127"/>
                    <a:ea typeface="Apple SD Gothic Neo Regular" panose="02000300000000000000" charset="-127"/>
                    <a:cs typeface="Academy Engraved LET" panose="02000000000000000000" charset="0"/>
                    <a:sym typeface="+mn-ea"/>
                  </a:rPr>
                  <a:t>     </a:t>
                </a:r>
                <a:endParaRPr lang="en-US" altLang="zh-CN" sz="2400" dirty="0">
                  <a:effectLst/>
                  <a:latin typeface="Apple SD Gothic Neo Regular" panose="02000300000000000000" charset="-127"/>
                  <a:ea typeface="Apple SD Gothic Neo Regular" panose="02000300000000000000" charset="-127"/>
                  <a:cs typeface="Academy Engraved LET" panose="02000000000000000000" charset="0"/>
                  <a:sym typeface="+mn-ea"/>
                </a:endParaRPr>
              </a:p>
            </p:txBody>
          </p:sp>
        </mc:Choice>
        <mc:Fallback>
          <p:sp>
            <p:nvSpPr>
              <p:cNvPr id="2" name="标题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ctrTitle"/>
                <p:custDataLst>
                  <p:tags r:id="rId2"/>
                </p:custDataLst>
              </p:nvPr>
            </p:nvSpPr>
            <p:spPr>
              <a:xfrm>
                <a:off x="205105" y="90170"/>
                <a:ext cx="13072110" cy="880110"/>
              </a:xfrm>
              <a:blipFill rotWithShape="1">
                <a:blip r:embed="rId3"/>
                <a:stretch>
                  <a:fillRect t="-245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52170" y="1038225"/>
            <a:ext cx="10288270" cy="22586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82345" y="2927350"/>
            <a:ext cx="3757930" cy="383540"/>
          </a:xfrm>
          <a:prstGeom prst="roundRect">
            <a:avLst/>
          </a:prstGeom>
          <a:solidFill>
            <a:srgbClr val="000000">
              <a:alpha val="0"/>
            </a:srgb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ounded Rectangle 6"/>
          <p:cNvSpPr/>
          <p:nvPr>
            <p:custDataLst>
              <p:tags r:id="rId6"/>
            </p:custDataLst>
          </p:nvPr>
        </p:nvSpPr>
        <p:spPr>
          <a:xfrm flipV="1">
            <a:off x="7376160" y="2188845"/>
            <a:ext cx="858520" cy="383540"/>
          </a:xfrm>
          <a:prstGeom prst="roundRect">
            <a:avLst/>
          </a:prstGeom>
          <a:solidFill>
            <a:srgbClr val="000000">
              <a:alpha val="0"/>
            </a:srgbClr>
          </a:solidFill>
          <a:ln w="28575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3970020" y="90170"/>
            <a:ext cx="770255" cy="383540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 w="28575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ounded Rectangle 13"/>
          <p:cNvSpPr/>
          <p:nvPr>
            <p:custDataLst>
              <p:tags r:id="rId8"/>
            </p:custDataLst>
          </p:nvPr>
        </p:nvSpPr>
        <p:spPr>
          <a:xfrm>
            <a:off x="7884795" y="107950"/>
            <a:ext cx="770255" cy="383540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 w="28575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ounded Rectangle 14"/>
          <p:cNvSpPr/>
          <p:nvPr>
            <p:custDataLst>
              <p:tags r:id="rId9"/>
            </p:custDataLst>
          </p:nvPr>
        </p:nvSpPr>
        <p:spPr>
          <a:xfrm>
            <a:off x="4454525" y="557530"/>
            <a:ext cx="285750" cy="383540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 w="28575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8369300" y="566420"/>
            <a:ext cx="285750" cy="383540"/>
          </a:xfrm>
          <a:prstGeom prst="roundRect">
            <a:avLst/>
          </a:prstGeom>
          <a:solidFill>
            <a:schemeClr val="accent3">
              <a:lumMod val="75000"/>
              <a:alpha val="50000"/>
            </a:schemeClr>
          </a:solidFill>
          <a:ln w="28575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390525" y="106299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93370" y="3862070"/>
            <a:ext cx="5933440" cy="202438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354445" y="3296920"/>
            <a:ext cx="5368925" cy="3283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5105" y="158115"/>
            <a:ext cx="8091805" cy="622935"/>
          </a:xfrm>
        </p:spPr>
        <p:txBody>
          <a:bodyPr>
            <a:noAutofit/>
          </a:bodyPr>
          <a:lstStyle/>
          <a:p>
            <a:pPr algn="l"/>
            <a:r>
              <a:rPr lang="en-US" altLang="zh-CN" sz="28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</a:rPr>
              <a:t>02 - Change: loss=100*loss_yc+1*loss_yx</a:t>
            </a:r>
            <a:endParaRPr lang="en-US" altLang="zh-CN" sz="2800" b="1" dirty="0">
              <a:solidFill>
                <a:schemeClr val="accent3">
                  <a:lumMod val="50000"/>
                </a:schemeClr>
              </a:solidFill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5105" y="84455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205105" y="1056640"/>
            <a:ext cx="5246370" cy="473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 sz="2400" dirty="0"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000" y="907415"/>
            <a:ext cx="4280535" cy="33705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194300" y="905510"/>
            <a:ext cx="4384675" cy="30905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179820" y="4277995"/>
            <a:ext cx="2414270" cy="23063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84250" y="4168775"/>
            <a:ext cx="2884170" cy="252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5105" y="158115"/>
            <a:ext cx="8091805" cy="622935"/>
          </a:xfrm>
        </p:spPr>
        <p:txBody>
          <a:bodyPr>
            <a:noAutofit/>
          </a:bodyPr>
          <a:lstStyle/>
          <a:p>
            <a:pPr algn="l"/>
            <a:r>
              <a:rPr lang="en-US" altLang="zh-CN" sz="28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</a:rPr>
              <a:t>03 - Comparison</a:t>
            </a:r>
            <a:endParaRPr lang="en-US" altLang="zh-CN" sz="2800" b="1" dirty="0">
              <a:solidFill>
                <a:schemeClr val="accent3">
                  <a:lumMod val="50000"/>
                </a:schemeClr>
              </a:solidFill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5105" y="84455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205105" y="1056640"/>
            <a:ext cx="5246370" cy="473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 sz="2400" dirty="0"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2105" y="1306195"/>
            <a:ext cx="5245735" cy="253301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366520" y="850900"/>
            <a:ext cx="32258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 dirty="0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Apple SD Gothic Neo Bold" panose="02000300000000000000" charset="-127"/>
                <a:ea typeface="Apple SD Gothic Neo Bold" panose="02000300000000000000" charset="-127"/>
                <a:cs typeface="Apple SD Gothic Neo Regular" panose="02000300000000000000" charset="-127"/>
                <a:sym typeface="+mn-ea"/>
              </a:rPr>
              <a:t>-sigmoid+clamp+MSE</a:t>
            </a:r>
            <a:endParaRPr lang="en-US" altLang="zh-CN" sz="2000" b="1" dirty="0">
              <a:solidFill>
                <a:schemeClr val="accent3">
                  <a:lumMod val="50000"/>
                </a:schemeClr>
              </a:solidFill>
              <a:effectLst/>
              <a:uFillTx/>
              <a:latin typeface="Apple SD Gothic Neo Bold" panose="02000300000000000000" charset="-127"/>
              <a:ea typeface="Apple SD Gothic Neo Bold" panose="02000300000000000000" charset="-127"/>
              <a:cs typeface="Apple SD Gothic Neo Regular" panose="02000300000000000000" charset="-127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150100" y="753110"/>
            <a:ext cx="26289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 dirty="0"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Apple SD Gothic Neo Bold" panose="02000300000000000000" charset="-127"/>
                <a:ea typeface="Apple SD Gothic Neo Bold" panose="02000300000000000000" charset="-127"/>
                <a:cs typeface="Arial Bold" panose="020B0604020202090204" charset="0"/>
                <a:sym typeface="+mn-ea"/>
              </a:rPr>
              <a:t>-indicator+BCE</a:t>
            </a:r>
            <a:endParaRPr lang="en-US" altLang="zh-CN" sz="2000" b="1" dirty="0">
              <a:solidFill>
                <a:schemeClr val="accent3">
                  <a:lumMod val="50000"/>
                </a:schemeClr>
              </a:solidFill>
              <a:effectLst/>
              <a:uFillTx/>
              <a:latin typeface="Apple SD Gothic Neo Bold" panose="02000300000000000000" charset="-127"/>
              <a:ea typeface="Apple SD Gothic Neo Bold" panose="02000300000000000000" charset="-127"/>
              <a:cs typeface="Arial Bold" panose="020B0604020202090204" charset="0"/>
              <a:sym typeface="+mn-ea"/>
            </a:endParaRP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1470" y="3699510"/>
            <a:ext cx="5120005" cy="14471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98805" y="5233035"/>
            <a:ext cx="4459605" cy="16249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280150" y="1306195"/>
            <a:ext cx="5028565" cy="25336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280150" y="3763010"/>
            <a:ext cx="5245100" cy="138366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591935" y="5146675"/>
            <a:ext cx="4228465" cy="1624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5105" y="158115"/>
            <a:ext cx="8091805" cy="622935"/>
          </a:xfrm>
        </p:spPr>
        <p:txBody>
          <a:bodyPr>
            <a:noAutofit/>
          </a:bodyPr>
          <a:lstStyle/>
          <a:p>
            <a:pPr algn="l"/>
            <a:r>
              <a:rPr lang="en-US" altLang="zh-CN" sz="2800" b="1" dirty="0">
                <a:effectLst/>
                <a:latin typeface="Apple SD Gothic Neo Bold" panose="02000300000000000000" charset="-127"/>
                <a:ea typeface="Apple SD Gothic Neo Bold" panose="02000300000000000000" charset="-127"/>
                <a:cs typeface="Academy Engraved LET" panose="02000000000000000000" charset="0"/>
              </a:rPr>
              <a:t>04 - 2 Populations: 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uFillTx/>
                <a:latin typeface="Apple SD Gothic Neo Bold" panose="02000300000000000000" charset="-127"/>
                <a:ea typeface="Apple SD Gothic Neo Bold" panose="02000300000000000000" charset="-127"/>
                <a:cs typeface="Apple SD Gothic Neo Regular" panose="02000300000000000000" charset="-127"/>
                <a:sym typeface="+mn-ea"/>
              </a:rPr>
              <a:t>-sigmoid+clamp+MSE</a:t>
            </a:r>
            <a:endParaRPr lang="en-US" altLang="zh-CN" sz="2800" b="1" dirty="0">
              <a:solidFill>
                <a:schemeClr val="accent3">
                  <a:lumMod val="50000"/>
                </a:schemeClr>
              </a:solidFill>
              <a:effectLst/>
              <a:latin typeface="Apple SD Gothic Neo Bold" panose="02000300000000000000" charset="-127"/>
              <a:ea typeface="Apple SD Gothic Neo Bold" panose="02000300000000000000" charset="-127"/>
              <a:cs typeface="Academy Engraved LET" panose="02000000000000000000" charset="0"/>
              <a:sym typeface="+mn-ea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5105" y="742950"/>
            <a:ext cx="11581765" cy="0"/>
          </a:xfrm>
          <a:prstGeom prst="line">
            <a:avLst/>
          </a:prstGeom>
          <a:ln w="1270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Text Box 4"/>
          <p:cNvSpPr txBox="1"/>
          <p:nvPr/>
        </p:nvSpPr>
        <p:spPr>
          <a:xfrm>
            <a:off x="205105" y="1056640"/>
            <a:ext cx="5246370" cy="473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 sz="2400" dirty="0">
              <a:latin typeface="Apple SD Gothic Neo Regular" panose="02000300000000000000" charset="-127"/>
              <a:ea typeface="Apple SD Gothic Neo Regular" panose="02000300000000000000" charset="-127"/>
              <a:cs typeface="Academy Engraved LET" panose="02000000000000000000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6510" y="755650"/>
            <a:ext cx="7519670" cy="39223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4703445"/>
            <a:ext cx="7823200" cy="2076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503160" y="781050"/>
            <a:ext cx="2743200" cy="22936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854565" y="781050"/>
            <a:ext cx="2337435" cy="21151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724775" y="3074670"/>
            <a:ext cx="4377690" cy="37052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WPS Presentation</Application>
  <PresentationFormat>宽屏</PresentationFormat>
  <Paragraphs>28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Apple SD Gothic Neo Bold</vt:lpstr>
      <vt:lpstr>Academy Engraved LET</vt:lpstr>
      <vt:lpstr>Apple SD Gothic Neo Regular</vt:lpstr>
      <vt:lpstr>DejaVu Math TeX Gyre</vt:lpstr>
      <vt:lpstr>Apple SD Gothic Neo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Tahoma</vt:lpstr>
      <vt:lpstr>Arial Bold</vt:lpstr>
      <vt:lpstr>WPS</vt:lpstr>
      <vt:lpstr>PowerPoint 演示文稿</vt:lpstr>
      <vt:lpstr>Reflection &amp; Summary</vt:lpstr>
      <vt:lpstr>01 -   change       --&gt;          </vt:lpstr>
      <vt:lpstr>02 - Change: loss=100*loss_yc+1*loss_yx</vt:lpstr>
      <vt:lpstr>02 - Change: loss=100*loss_yc+1*loss_yx</vt:lpstr>
      <vt:lpstr>03 - Comparison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敖樱芝</cp:lastModifiedBy>
  <cp:revision>13</cp:revision>
  <dcterms:created xsi:type="dcterms:W3CDTF">2024-07-23T14:21:24Z</dcterms:created>
  <dcterms:modified xsi:type="dcterms:W3CDTF">2024-07-23T14:21:24Z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1033-6.8.2.8850</vt:lpwstr>
  </property>
  <property fmtid="{D5CDD505-2E9C-101B-9397-08002B2CF9AE}" pid="3" name="ICV">
    <vt:lpwstr>C2FBAC1D2ECE3FFCD30F9C66C231FBF6_41</vt:lpwstr>
  </property>
</Properties>
</file>