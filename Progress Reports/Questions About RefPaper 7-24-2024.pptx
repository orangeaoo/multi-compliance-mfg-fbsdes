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7-24T16:50:37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  <inkml:brushProperty name="ignorePressure" value="0"/>
    </inkml:brush>
  </inkml:definitions>
  <inkml:trace contextRef="#ctx0" brushRef="#br0">6902.83300781250000 307.83288574218750,'2'0,"13"0,2 0,1 0,-1 0,18 0,-35 0,18 0,-1 0,1 0,-18 0,0 0,17 0,-17 0,0 0,0 0,0 0,18 0,-1-18,1 18,-1 0,1 0,-1 0,0 0,1 0,-18 0,0 0,17 0,-17 0,0 0,0 0,-17 0,17 0,-18 0,18 0,-17 0,17 18,-17-18,-1 0,18 17,-17-17,-18 0,17 18,18-18,-17 0,-1 17,1-17,-1 0,1 18,-1-18,1 0,17 0,-18 17,1-17,17 0,-17 0,17 0,-18 0,18 0,0 18,18-18,-1 0,0 0,1 0,-1 0,1 0,17 0,0 0,0 0,-18 0,18 0,-35 0,18 0,-1 0,-17 0,0 0,17 0,-17 0,0 0,0 0,18 0,-18 0,0 0,0-18,17 18,-17 0,0 0,18 0,-18 0,0 0,0 18,-18-18,-17 0,18 17,0-17,-1 0,-17 18,18-1,-1-17,-17 18,18-18,-1 17,1-17,17 0,0 17,-18-17,18 0,0 0,0 0,18 0,-1 0,1 0,-1 0,1-17,17 17,0 0,-18-17,18 17,-18 0,1 0,-1 0,1 0,-18 0,0 0,17 0,-17 0,0 0,-17 0,-1 0,1 0,-1 0,1 17,-18-17,18 0,-18 17,17-17,1 18,-1-18,1 0,-1 0,1 0,17 0,-18 0,18 0,-17 0,17 0,0 0,0 0,-18 0,18 0,0 0,0 0,-17 0,17 0,0 0,0 0,0 0,-17 0,17-18,0 18,0 0,0 0,0 0,0 0,0-17,0 17,0 0,0 0,0 0,0 0,-18 0,18-17,0 17,0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image" Target="../media/image3.png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customXml" Target="../ink/ink1.xml"/><Relationship Id="rId6" Type="http://schemas.openxmlformats.org/officeDocument/2006/relationships/image" Target="../media/image6.png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5.png"/><Relationship Id="rId2" Type="http://schemas.openxmlformats.org/officeDocument/2006/relationships/tags" Target="../tags/tag9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tags" Target="../tags/tag19.xml"/><Relationship Id="rId6" Type="http://schemas.openxmlformats.org/officeDocument/2006/relationships/image" Target="../media/image10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9.png"/><Relationship Id="rId2" Type="http://schemas.openxmlformats.org/officeDocument/2006/relationships/tags" Target="../tags/tag16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>
            <p:custDataLst>
              <p:tags r:id="rId1"/>
            </p:custDataLst>
          </p:nvPr>
        </p:nvSpPr>
        <p:spPr>
          <a:xfrm>
            <a:off x="584200" y="881380"/>
            <a:ext cx="1102360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Questions - RefPaper</a:t>
            </a:r>
            <a:b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</a:b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7-24-2024</a:t>
            </a:r>
            <a:endParaRPr lang="en-US" altLang="zh-CN" sz="6600" b="1" dirty="0"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6540" y="-75565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01 - Principle’s Problem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/>
              <p:cNvSpPr txBox="1"/>
              <p:nvPr/>
            </p:nvSpPr>
            <p:spPr>
              <a:xfrm>
                <a:off x="502920" y="2371090"/>
                <a:ext cx="9434195" cy="195580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To maximize: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800100" lvl="1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utility (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𝑈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(∙)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) + </a:t>
                </a:r>
                <a:r>
                  <a:rPr lang="en-US" altLang="zh-CN" sz="2000" u="sng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penalty recieved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𝑔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(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∙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)&gt;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0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)  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800100" lvl="1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utility (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𝑈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(∙)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)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+ </a:t>
                </a:r>
                <a:r>
                  <a:rPr lang="en-US" altLang="zh-CN" sz="2000" u="sng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compensate paid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𝑔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(∙)&lt;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0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)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342900" lvl="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Is this why we wanna a balance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𝑘</m:t>
                        </m:r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)</m:t>
                        </m:r>
                      </m:sup>
                    </m:sSubSup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&lt;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𝐾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𝑘</m:t>
                        </m:r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)</m:t>
                        </m:r>
                      </m:sup>
                    </m:sSubSup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&gt;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𝐾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? 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342900" lvl="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Are we choosing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𝑈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(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𝑋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)=</m:t>
                    </m:r>
                    <m:r>
                      <a:rPr lang="en-US" altLang="zh-CN" sz="2000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𝑋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?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</p:txBody>
          </p:sp>
        </mc:Choice>
        <mc:Fallback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371090"/>
                <a:ext cx="9434195" cy="1955800"/>
              </a:xfrm>
              <a:prstGeom prst="rect">
                <a:avLst/>
              </a:prstGeom>
              <a:blipFill rotWithShape="1">
                <a:blip r:embed="rId2"/>
                <a:stretch>
                  <a:fillRect b="-2850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>
            <p:custDataLst>
              <p:tags r:id="rId3"/>
            </p:custDataLst>
          </p:nvPr>
        </p:nvCxnSpPr>
        <p:spPr>
          <a:xfrm>
            <a:off x="179705" y="65659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81175" y="747395"/>
            <a:ext cx="75311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6540" y="-75565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02 - Assumption of Principle’s Problem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/>
              <p:cNvSpPr txBox="1"/>
              <p:nvPr/>
            </p:nvSpPr>
            <p:spPr>
              <a:xfrm>
                <a:off x="502920" y="2371090"/>
                <a:ext cx="9434195" cy="2594610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Is this right? --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lvl="1" indent="0" algn="l">
                  <a:lnSpc>
                    <a:spcPct val="130000"/>
                  </a:lnSpc>
                  <a:buFont typeface="Arial" panose="020B060402020209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∵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  <a:sym typeface="+mn-ea"/>
                          </a:rPr>
                          <m:t>𝛱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𝑖</m:t>
                        </m:r>
                      </m:sub>
                    </m:sSub>
                    <m:r>
                      <a:rPr lang="en-US" altLang="zh-CN" b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Bold" panose="02000300000000000000" charset="-127"/>
                        <a:cs typeface="DejaVu Math TeX Gyre" panose="02000503000000000000" charset="0"/>
                        <a:sym typeface="+mn-ea"/>
                      </a:rPr>
                      <m:t>𝐕</m:t>
                    </m:r>
                    <m:r>
                      <a:rPr lang="en-US" altLang="zh-CN" b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Bold" panose="02000300000000000000" charset="-127"/>
                        <a:cs typeface="DejaVu Math TeX Gyre" panose="02000503000000000000" charset="0"/>
                        <a:sym typeface="+mn-ea"/>
                      </a:rPr>
                      <m:t>&lt;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 and 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  <a:sym typeface="+mn-ea"/>
                          </a:rPr>
                          <m:t>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i</m:t>
                        </m:r>
                      </m:sub>
                    </m:sSub>
                    <m:r>
                      <a:rPr lang="en-US" altLang="zh-CN" b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Bold" panose="02000300000000000000" charset="-127"/>
                        <a:cs typeface="DejaVu Math TeX Gyre" panose="02000503000000000000" charset="0"/>
                        <a:sym typeface="+mn-ea"/>
                      </a:rPr>
                      <m:t>𝐕</m:t>
                    </m:r>
                    <m:r>
                      <a:rPr lang="en-US" altLang="zh-CN" b="1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Bold" panose="02000300000000000000" charset="-127"/>
                        <a:cs typeface="DejaVu Math TeX Gyre" panose="02000503000000000000" charset="0"/>
                        <a:sym typeface="+mn-ea"/>
                      </a:rPr>
                      <m:t>→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𝑅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 Regular" panose="02000300000000000000" charset="-127"/>
                    <a:sym typeface="+mn-ea"/>
                  </a:rPr>
                  <a:t>(which means the costs of agents should be as close to the reservation costs )</a:t>
                </a:r>
                <a:endParaRPr lang="en-US" altLang="zh-CN" i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Apple SD Gothic Neo" panose="02000300000000000000" charset="-127"/>
                  <a:ea typeface="Apple SD Gothic Neo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lvl="1" indent="0" algn="l">
                  <a:lnSpc>
                    <a:spcPct val="130000"/>
                  </a:lnSpc>
                  <a:buFont typeface="Arial" panose="020B060402020209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FillTx/>
                          <a:latin typeface="DejaVu Math TeX Gyre" panose="02000503000000000000" charset="0"/>
                          <a:ea typeface="Apple SD Gothic Neo Regular" panose="02000300000000000000" charset="-127"/>
                          <a:cs typeface="DejaVu Math TeX Gyre" panose="02000503000000000000" charset="0"/>
                          <a:sym typeface="+mn-ea"/>
                        </a:rPr>
                        <m:t>∴ </m:t>
                      </m:r>
                      <m:func>
                        <m:funcPr>
                          <m:ctrlPr>
                            <a:rPr lang="en-US" altLang="zh-CN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Regular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DejaVu Math TeX Gyre" panose="02000503000000000000" charset="0"/>
                                      <a:ea typeface="Apple SD Gothic Neo Regular" panose="02000300000000000000" charset="-127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DejaVu Math TeX Gyre" panose="02000503000000000000" charset="0"/>
                                      <a:ea typeface="宋体" charset="0"/>
                                      <a:cs typeface="DejaVu Math TeX Gyre" panose="02000503000000000000" charset="0"/>
                                      <a:sym typeface="+mn-ea"/>
                                    </a:rPr>
                                    <m:t>𝛱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DejaVu Math TeX Gyre" panose="02000503000000000000" charset="0"/>
                                      <a:ea typeface="Apple SD Gothic Neo Regular" panose="02000300000000000000" charset="-127"/>
                                      <a:cs typeface="DejaVu Math TeX Gyre" panose="02000503000000000000" charset="0"/>
                                      <a:sym typeface="+mn-ea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𝐕</m:t>
                              </m:r>
                              <m:r>
                                <a:rPr lang="en-US" altLang="zh-CN" b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DejaVu Math TeX Gyre" panose="02000503000000000000" charset="0"/>
                                      <a:ea typeface="Apple SD Gothic Neo Bold" panose="02000300000000000000" charset="-127"/>
                                      <a:cs typeface="DejaVu Math TeX Gyre" panose="02000503000000000000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DejaVu Math TeX Gyre" panose="02000503000000000000" charset="0"/>
                                      <a:ea typeface="Apple SD Gothic Neo Bold" panose="02000300000000000000" charset="-127"/>
                                      <a:cs typeface="DejaVu Math TeX Gyre" panose="02000503000000000000" charset="0"/>
                                      <a:sym typeface="+mn-ea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effectLst/>
                                      <a:uFillTx/>
                                      <a:latin typeface="DejaVu Math TeX Gyre" panose="02000503000000000000" charset="0"/>
                                      <a:ea typeface="Apple SD Gothic Neo Bold" panose="02000300000000000000" charset="-127"/>
                                      <a:cs typeface="DejaVu Math TeX Gyre" panose="02000503000000000000" charset="0"/>
                                      <a:sym typeface="+mn-ea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i="1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uFillTx/>
                          <a:latin typeface="DejaVu Math TeX Gyre" panose="02000503000000000000" charset="0"/>
                          <a:ea typeface="Apple SD Gothic Neo Regular" panose="02000300000000000000" charset="-127"/>
                          <a:cs typeface="DejaVu Math TeX Gyre" panose="02000503000000000000" charset="0"/>
                          <a:sym typeface="+mn-ea"/>
                        </a:rPr>
                        <m:t>=</m:t>
                      </m:r>
                      <m:func>
                        <m:funcPr>
                          <m:ctrlPr>
                            <a:rPr lang="en-US" altLang="zh-CN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Regular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Regular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Bold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宋体" charset="0"/>
                                  <a:cs typeface="DejaVu Math TeX Gyre" panose="02000503000000000000" charset="0"/>
                                  <a:sym typeface="+mn-ea"/>
                                </a:rPr>
                                <m:t>𝛱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Bold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𝐕</m:t>
                          </m:r>
                          <m:r>
                            <a:rPr lang="en-US" altLang="zh-CN" b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Bold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)=</m:t>
                          </m:r>
                        </m:e>
                      </m:func>
                      <m:func>
                        <m:funcPr>
                          <m:ctrlPr>
                            <a:rPr lang="en-US" altLang="zh-CN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Regular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Regular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宋体" charset="0"/>
                                  <a:cs typeface="DejaVu Math TeX Gyre" panose="02000503000000000000" charset="0"/>
                                  <a:sym typeface="+mn-ea"/>
                                </a:rPr>
                                <m:t>𝛱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Regular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Bold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𝐕</m:t>
                          </m:r>
                          <m:r>
                            <a:rPr lang="en-US" altLang="zh-CN" b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Bold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effectLst/>
                                  <a:uFillTx/>
                                  <a:latin typeface="DejaVu Math TeX Gyre" panose="02000503000000000000" charset="0"/>
                                  <a:ea typeface="Apple SD Gothic Neo Bold" panose="02000300000000000000" charset="-127"/>
                                  <a:cs typeface="DejaVu Math TeX Gyre" panose="02000503000000000000" charset="0"/>
                                  <a:sym typeface="+mn-ea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effectLst/>
                              <a:uFillTx/>
                              <a:latin typeface="DejaVu Math TeX Gyre" panose="02000503000000000000" charset="0"/>
                              <a:ea typeface="Apple SD Gothic Neo Bold" panose="02000300000000000000" charset="-127"/>
                              <a:cs typeface="DejaVu Math TeX Gyre" panose="02000503000000000000" charset="0"/>
                              <a:sym typeface="+mn-ea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b="1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DejaVu Math TeX Gyre" panose="02000503000000000000" charset="0"/>
                  <a:ea typeface="Apple SD Gothic Neo Bold" panose="02000300000000000000" charset="-127"/>
                  <a:cs typeface="DejaVu Math TeX Gyre" panose="02000503000000000000" charset="0"/>
                  <a:sym typeface="+mn-ea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In current context, what is the reservation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𝑅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Bold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? 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lvl="1" indent="0" algn="l">
                  <a:lnSpc>
                    <a:spcPct val="150000"/>
                  </a:lnSpc>
                  <a:buFont typeface="Arial" panose="020B0604020202090204" pitchFamily="34" charset="0"/>
                  <a:buNone/>
                </a:pPr>
                <a:r>
                  <a:rPr lang="en-US" altLang="zh-CN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(the max penalty reveived/ min compensate paid 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FillTx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  <a:sym typeface="+mn-ea"/>
                      </a:rPr>
                      <m:t>max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𝑔</m:t>
                        </m:r>
                        <m:r>
                          <a:rPr lang="en-US" altLang="zh-CN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(</m:t>
                        </m:r>
                        <m:r>
                          <a:rPr lang="en-US" altLang="zh-CN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effectLst/>
                            <a:uFillTx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  <a:sym typeface="+mn-ea"/>
                          </a:rPr>
                          <m:t>∙)</m:t>
                        </m:r>
                      </m:e>
                    </m:d>
                  </m:oMath>
                </a14:m>
                <a:r>
                  <a:rPr lang="en-US" altLang="zh-CN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? )</a:t>
                </a:r>
                <a:endParaRPr lang="en-US" altLang="zh-CN" i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</p:txBody>
          </p:sp>
        </mc:Choice>
        <mc:Fallback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371090"/>
                <a:ext cx="9434195" cy="25946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>
            <p:custDataLst>
              <p:tags r:id="rId3"/>
            </p:custDataLst>
          </p:nvPr>
        </p:nvCxnSpPr>
        <p:spPr>
          <a:xfrm>
            <a:off x="179705" y="65659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12010" b="10637"/>
          <a:stretch>
            <a:fillRect/>
          </a:stretch>
        </p:blipFill>
        <p:spPr>
          <a:xfrm>
            <a:off x="718820" y="797560"/>
            <a:ext cx="10502900" cy="1002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>
                <a:spLocks noGrp="1"/>
              </p:cNvSpPr>
              <p:nvPr>
                <p:custDataLst>
                  <p:tags r:id="rId1"/>
                </p:custDataLst>
              </p:nvPr>
            </p:nvSpPr>
            <p:spPr>
              <a:xfrm>
                <a:off x="256540" y="-75565"/>
                <a:ext cx="9144000" cy="73215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0000" lnSpcReduction="20000"/>
              </a:bodyPr>
              <a:lstStyle>
                <a:lvl1pPr algn="ctr" defTabSz="914400" rtl="0" eaLnBrk="1" latinLnBrk="0" hangingPunct="1">
                  <a:lnSpc>
                    <a:spcPct val="13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zh-CN" sz="3000" dirty="0">
                    <a:effectLst/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</a:rPr>
                  <a:t>03 - Should instead be 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∆</m:t>
                    </m:r>
                    <m:sSubSup>
                      <m:sSubSupPr>
                        <m:ctrlPr>
                          <a:rPr lang="en-US" altLang="zh-CN" sz="3000" i="1" dirty="0"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3000" i="1" dirty="0"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𝑊</m:t>
                        </m:r>
                      </m:e>
                      <m:sub>
                        <m:sSub>
                          <m:sSubPr>
                            <m:ctrlPr>
                              <a:rPr lang="en-US" altLang="zh-CN" sz="3000" i="1" dirty="0">
                                <a:effectLst/>
                                <a:latin typeface="DejaVu Math TeX Gyre" panose="02000503000000000000" charset="0"/>
                                <a:ea typeface="Apple SD Gothic Neo Regular" panose="02000300000000000000" charset="-127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effectLst/>
                                <a:latin typeface="DejaVu Math TeX Gyre" panose="02000503000000000000" charset="0"/>
                                <a:ea typeface="Apple SD Gothic Neo Regular" panose="02000300000000000000" charset="-127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3000" i="1" dirty="0">
                                <a:effectLst/>
                                <a:latin typeface="DejaVu Math TeX Gyre" panose="02000503000000000000" charset="0"/>
                                <a:ea typeface="Apple SD Gothic Neo Regular" panose="02000300000000000000" charset="-127"/>
                                <a:cs typeface="DejaVu Math TeX Gyre" panose="02000503000000000000" charset="0"/>
                              </a:rPr>
                              <m:t>𝑚</m:t>
                            </m:r>
                          </m:sub>
                        </m:sSub>
                      </m:sub>
                      <m:sup>
                        <m:r>
                          <a:rPr lang="en-US" altLang="zh-CN" sz="3000" i="1" dirty="0"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CN" sz="3000" dirty="0">
                    <a:effectLst/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</a:rPr>
                  <a:t> ?</a:t>
                </a:r>
                <a:endParaRPr lang="en-US" altLang="zh-CN" sz="3000" dirty="0">
                  <a:effectLst/>
                  <a:latin typeface="Apple SD Gothic Neo Regular" panose="02000300000000000000" charset="-127"/>
                  <a:ea typeface="Apple SD Gothic Neo Regular" panose="02000300000000000000" charset="-127"/>
                  <a:cs typeface="Academy Engraved LET" panose="02000000000000000000" charset="0"/>
                </a:endParaRPr>
              </a:p>
            </p:txBody>
          </p:sp>
        </mc:Choice>
        <mc:Fallback>
          <p:sp>
            <p:nvSpPr>
              <p:cNvPr id="6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56540" y="-75565"/>
                <a:ext cx="9144000" cy="7321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6"/>
          <p:cNvSpPr txBox="1"/>
          <p:nvPr/>
        </p:nvSpPr>
        <p:spPr>
          <a:xfrm>
            <a:off x="502920" y="5316220"/>
            <a:ext cx="9434195" cy="826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i="1" dirty="0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Apple SD Gothic Neo Regular" panose="02000300000000000000" charset="-127"/>
                <a:ea typeface="Apple SD Gothic Neo Regular" panose="02000300000000000000" charset="-127"/>
                <a:cs typeface="Apple SD Gothic Neo Regular" panose="02000300000000000000" charset="-127"/>
                <a:sym typeface="+mn-ea"/>
              </a:rPr>
              <a:t>Page 9, [3.2. Approximating the MV-FBSDE]</a:t>
            </a:r>
            <a:endParaRPr lang="en-US" altLang="zh-CN" i="1" dirty="0">
              <a:solidFill>
                <a:schemeClr val="accent3">
                  <a:lumMod val="50000"/>
                </a:schemeClr>
              </a:solidFill>
              <a:effectLst/>
              <a:uFillTx/>
              <a:latin typeface="Apple SD Gothic Neo Regular" panose="02000300000000000000" charset="-127"/>
              <a:ea typeface="Apple SD Gothic Neo Regular" panose="02000300000000000000" charset="-127"/>
              <a:cs typeface="Apple SD Gothic Neo Regular" panose="02000300000000000000" charset="-127"/>
              <a:sym typeface="+mn-ea"/>
            </a:endParaRPr>
          </a:p>
        </p:txBody>
      </p:sp>
      <p:cxnSp>
        <p:nvCxnSpPr>
          <p:cNvPr id="4" name="Straight Connector 3"/>
          <p:cNvCxnSpPr/>
          <p:nvPr>
            <p:custDataLst>
              <p:tags r:id="rId4"/>
            </p:custDataLst>
          </p:nvPr>
        </p:nvCxnSpPr>
        <p:spPr>
          <a:xfrm>
            <a:off x="179705" y="65659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90270" y="790575"/>
            <a:ext cx="10160000" cy="4089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8" name="Ink 7"/>
              <p14:cNvContentPartPr/>
              <p14:nvPr/>
            </p14:nvContentPartPr>
            <p14:xfrm>
              <a:off x="4371975" y="184150"/>
              <a:ext cx="244475" cy="156210"/>
            </p14:xfrm>
          </p:contentPart>
        </mc:Choice>
        <mc:Fallback xmlns="">
          <p:pic>
            <p:nvPicPr>
              <p:cNvPr id="8" name="Ink 7"/>
            </p:nvPicPr>
            <p:blipFill>
              <a:blip r:embed="rId8"/>
            </p:blipFill>
            <p:spPr>
              <a:xfrm>
                <a:off x="4371975" y="184150"/>
                <a:ext cx="244475" cy="15621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6540" y="-75565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04 - What Is U ? 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p:cxnSp>
        <p:nvCxnSpPr>
          <p:cNvPr id="4" name="Straight Connector 3"/>
          <p:cNvCxnSpPr/>
          <p:nvPr>
            <p:custDataLst>
              <p:tags r:id="rId2"/>
            </p:custDataLst>
          </p:nvPr>
        </p:nvCxnSpPr>
        <p:spPr>
          <a:xfrm>
            <a:off x="179705" y="59182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5905" y="657225"/>
            <a:ext cx="4673600" cy="6125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>
                <a:spLocks noGrp="1"/>
              </p:cNvSpPr>
              <p:nvPr>
                <p:custDataLst>
                  <p:tags r:id="rId1"/>
                </p:custDataLst>
              </p:nvPr>
            </p:nvSpPr>
            <p:spPr>
              <a:xfrm>
                <a:off x="256540" y="-75565"/>
                <a:ext cx="9144000" cy="73215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13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zh-CN" sz="3000" dirty="0">
                    <a:effectLst/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</a:rPr>
                  <a:t>05 - Sign In Front of 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𝛤</m:t>
                    </m:r>
                    <m:r>
                      <a:rPr lang="en-US" altLang="zh-CN" sz="3000" i="1" dirty="0"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 </m:t>
                    </m:r>
                    <m:r>
                      <a:rPr lang="en-US" altLang="zh-CN" sz="3000" i="1" dirty="0"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𝑜𝑟</m:t>
                    </m:r>
                    <m:r>
                      <a:rPr lang="en-US" altLang="zh-CN" sz="3000" i="1" dirty="0"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 </m:t>
                    </m:r>
                    <m:r>
                      <a:rPr lang="en-US" altLang="zh-CN" sz="3000" i="1" dirty="0">
                        <a:effectLst/>
                        <a:latin typeface="DejaVu Math TeX Gyre" panose="02000503000000000000" charset="0"/>
                        <a:ea typeface="Apple SD Gothic Neo Regular" panose="02000300000000000000" charset="-127"/>
                        <a:cs typeface="DejaVu Math TeX Gyre" panose="02000503000000000000" charset="0"/>
                      </a:rPr>
                      <m:t>𝑆</m:t>
                    </m:r>
                  </m:oMath>
                </a14:m>
                <a:endParaRPr lang="en-US" altLang="zh-CN" sz="3000" dirty="0">
                  <a:effectLst/>
                  <a:latin typeface="Apple SD Gothic Neo Regular" panose="02000300000000000000" charset="-127"/>
                  <a:ea typeface="Apple SD Gothic Neo Regular" panose="02000300000000000000" charset="-127"/>
                  <a:cs typeface="Academy Engraved LET" panose="02000000000000000000" charset="0"/>
                </a:endParaRPr>
              </a:p>
            </p:txBody>
          </p:sp>
        </mc:Choice>
        <mc:Fallback>
          <p:sp>
            <p:nvSpPr>
              <p:cNvPr id="6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56540" y="-75565"/>
                <a:ext cx="9144000" cy="7321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>
            <p:custDataLst>
              <p:tags r:id="rId4"/>
            </p:custDataLst>
          </p:nvPr>
        </p:nvCxnSpPr>
        <p:spPr>
          <a:xfrm>
            <a:off x="179705" y="59182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56565" y="656590"/>
            <a:ext cx="10680700" cy="304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51840" y="3848735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 Regular" panose="02000300000000000000" charset="-127"/>
                <a:sym typeface="+mn-ea"/>
              </a:rPr>
              <a:t>Page 13</a:t>
            </a:r>
            <a:endParaRPr lang="en-US" altLang="zh-CN" b="1" dirty="0">
              <a:solidFill>
                <a:schemeClr val="accent3">
                  <a:lumMod val="50000"/>
                </a:schemeClr>
              </a:solidFill>
              <a:effectLst/>
              <a:uFillTx/>
              <a:latin typeface="DejaVu Math TeX Gyre" panose="02000503000000000000" charset="0"/>
              <a:ea typeface="Apple SD Gothic Neo Bold" panose="02000300000000000000" charset="-127"/>
              <a:cs typeface="DejaVu Math TeX Gyre" panose="02000503000000000000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56540" y="4499610"/>
            <a:ext cx="102616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6540" y="-75565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06 - Should Instead Be Pop2 &amp; Pop1 ?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p:cxnSp>
        <p:nvCxnSpPr>
          <p:cNvPr id="4" name="Straight Connector 3"/>
          <p:cNvCxnSpPr/>
          <p:nvPr>
            <p:custDataLst>
              <p:tags r:id="rId2"/>
            </p:custDataLst>
          </p:nvPr>
        </p:nvCxnSpPr>
        <p:spPr>
          <a:xfrm>
            <a:off x="179705" y="59182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751840" y="2862580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Apple SD Gothic Neo" panose="02000300000000000000" charset="-127"/>
                <a:ea typeface="Apple SD Gothic Neo" panose="02000300000000000000" charset="-127"/>
                <a:cs typeface="Apple SD Gothic Neo Regular" panose="02000300000000000000" charset="-127"/>
                <a:sym typeface="+mn-ea"/>
              </a:rPr>
              <a:t>Page 18</a:t>
            </a:r>
            <a:endParaRPr lang="en-US" altLang="zh-CN" b="1" dirty="0">
              <a:solidFill>
                <a:schemeClr val="accent3">
                  <a:lumMod val="50000"/>
                </a:schemeClr>
              </a:solidFill>
              <a:effectLst/>
              <a:uFillTx/>
              <a:latin typeface="DejaVu Math TeX Gyre" panose="02000503000000000000" charset="0"/>
              <a:ea typeface="Apple SD Gothic Neo Bold" panose="02000300000000000000" charset="-127"/>
              <a:cs typeface="DejaVu Math TeX Gyre" panose="02000503000000000000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1480" y="1105535"/>
            <a:ext cx="10261600" cy="13081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WPS Presentation</Application>
  <PresentationFormat>宽屏</PresentationFormat>
  <Paragraphs>32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Apple SD Gothic Neo Bold</vt:lpstr>
      <vt:lpstr>Academy Engraved LET</vt:lpstr>
      <vt:lpstr>Apple SD Gothic Neo Regular</vt:lpstr>
      <vt:lpstr>DejaVu Math TeX Gyre</vt:lpstr>
      <vt:lpstr>宋体</vt:lpstr>
      <vt:lpstr>汉仪书宋二KW</vt:lpstr>
      <vt:lpstr>Apple SD Gothic Neo</vt:lpstr>
      <vt:lpstr>微软雅黑</vt:lpstr>
      <vt:lpstr>汉仪旗黑</vt:lpstr>
      <vt:lpstr>Arial Unicode MS</vt:lpstr>
      <vt:lpstr>Calibri</vt:lpstr>
      <vt:lpstr>Helvetica Neue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敖樱芝</cp:lastModifiedBy>
  <cp:revision>10</cp:revision>
  <dcterms:created xsi:type="dcterms:W3CDTF">2024-07-27T02:44:45Z</dcterms:created>
  <dcterms:modified xsi:type="dcterms:W3CDTF">2024-07-27T02:44:45Z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1033-6.8.2.8850</vt:lpwstr>
  </property>
  <property fmtid="{D5CDD505-2E9C-101B-9397-08002B2CF9AE}" pid="3" name="ICV">
    <vt:lpwstr>544112E038326CDCBE5FA166306342FC_41</vt:lpwstr>
  </property>
</Properties>
</file>