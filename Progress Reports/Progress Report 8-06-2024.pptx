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7" r:id="rId3"/>
    <p:sldId id="258" r:id="rId5"/>
    <p:sldId id="260" r:id="rId6"/>
    <p:sldId id="261" r:id="rId7"/>
    <p:sldId id="262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861C"/>
    <a:srgbClr val="202020"/>
    <a:srgbClr val="A3882B"/>
    <a:srgbClr val="B2B2B2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88"/>
        <p:guide pos="38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>
            <p:custDataLst>
              <p:tags r:id="rId1"/>
            </p:custDataLst>
          </p:nvPr>
        </p:nvSpPr>
        <p:spPr>
          <a:xfrm>
            <a:off x="584200" y="881380"/>
            <a:ext cx="1102360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Progress Report</a:t>
            </a:r>
            <a:endParaRPr lang="en-US" altLang="zh-CN" sz="6600" b="1" dirty="0"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8-06-2024</a:t>
            </a:r>
            <a:endParaRPr lang="en-US" altLang="zh-CN" sz="6600" b="1" dirty="0"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6540" y="-75565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</a:rPr>
              <a:t>01 - Summary - </a:t>
            </a:r>
            <a:r>
              <a:rPr lang="en-US" altLang="zh-CN" sz="3000" b="1" dirty="0"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Price</a:t>
            </a:r>
            <a:r>
              <a:rPr lang="en-US" altLang="zh-CN" sz="3000" dirty="0"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  <a:sym typeface="+mn-ea"/>
              </a:rPr>
              <a:t> 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p:cxnSp>
        <p:nvCxnSpPr>
          <p:cNvPr id="4" name="Straight Connector 3"/>
          <p:cNvCxnSpPr/>
          <p:nvPr>
            <p:custDataLst>
              <p:tags r:id="rId2"/>
            </p:custDataLst>
          </p:nvPr>
        </p:nvCxnSpPr>
        <p:spPr>
          <a:xfrm>
            <a:off x="179705" y="65659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79705" y="753110"/>
                <a:ext cx="11581130" cy="427672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indent="0" algn="l">
                  <a:lnSpc>
                    <a:spcPct val="150000"/>
                  </a:lnSpc>
                  <a:buNone/>
                </a:pPr>
                <a:r>
                  <a:rPr lang="en-US" altLang="zh-CN" sz="2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Price level is impacted/ decided by the following factors:</a:t>
                </a:r>
                <a:endParaRPr lang="en-US" altLang="zh-CN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FillTx/>
                  <a:latin typeface="Apple SD Gothic Neo Bold" panose="02000300000000000000" charset="-127"/>
                  <a:ea typeface="Apple SD Gothic Neo Bold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endParaRPr lang="en-US" altLang="zh-CN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FillTx/>
                  <a:latin typeface="Apple SD Gothic Neo Bold" panose="02000300000000000000" charset="-127"/>
                  <a:ea typeface="Apple SD Gothic Neo Bold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Weight of penalty:</a:t>
                </a:r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" panose="02000300000000000000" charset="-127"/>
                        <a:cs typeface="DejaVu Math TeX Gyre" panose="02000503000000000000" charset="0"/>
                        <a:sym typeface="+mn-ea"/>
                      </a:rPr>
                      <m:t>𝑤</m:t>
                    </m:r>
                  </m:oMath>
                </a14:m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endPara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lvl="1" indent="0" algn="l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Small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C5861C"/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" panose="02000300000000000000" charset="-127"/>
                        <a:cs typeface="DejaVu Math TeX Gyre" panose="02000503000000000000" charset="0"/>
                        <a:sym typeface="+mn-ea"/>
                      </a:rPr>
                      <m:t>𝑤</m:t>
                    </m:r>
                  </m:oMath>
                </a14:m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means , companies are subjected to smaller penalty if they miss the quota. So there would be less incentives for them to trade to meet the quota. Thus the general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price would be lower.</a:t>
                </a:r>
                <a:endParaRPr lang="en-US" altLang="zh-CN" sz="2000" dirty="0">
                  <a:solidFill>
                    <a:srgbClr val="C5861C"/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lvl="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b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Period (time)</a:t>
                </a:r>
                <a:endParaRPr lang="en-US" altLang="zh-CN" sz="2000" b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 Bold" panose="02000300000000000000" charset="-127"/>
                  <a:ea typeface="Apple SD Gothic Neo Bold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lvl="1" indent="0" algn="l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In the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2nd period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,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most of the companies have already had enough capacity/inventory instock to meet the quota. So there would be less willingness to buy than to sell.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Thus the general </a:t>
                </a: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price would be lower.</a:t>
                </a:r>
                <a:endParaRPr lang="en-US" altLang="zh-CN" sz="2000" dirty="0">
                  <a:solidFill>
                    <a:srgbClr val="C5861C"/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79705" y="753110"/>
                <a:ext cx="11581130" cy="427672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/>
          <p:nvPr>
            <p:custDataLst>
              <p:tags r:id="rId6"/>
            </p:custDataLst>
          </p:nvPr>
        </p:nvGraphicFramePr>
        <p:xfrm>
          <a:off x="1223645" y="5126355"/>
          <a:ext cx="8748395" cy="122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965835"/>
                <a:gridCol w="1518285"/>
                <a:gridCol w="1242060"/>
                <a:gridCol w="1242695"/>
                <a:gridCol w="1242060"/>
                <a:gridCol w="1242060"/>
              </a:tblGrid>
              <a:tr h="408940"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3000"/>
                            <a:lumMod val="63000"/>
                            <a:lumOff val="37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202020"/>
                          </a:solidFill>
                        </a:rPr>
                        <a:t>w=1</a:t>
                      </a:r>
                      <a:endParaRPr lang="en-US">
                        <a:solidFill>
                          <a:srgbClr val="202020"/>
                        </a:solidFill>
                      </a:endParaRPr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5000"/>
                            <a:lumMod val="67000"/>
                            <a:lumOff val="33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202020"/>
                          </a:solidFill>
                          <a:sym typeface="+mn-ea"/>
                        </a:rPr>
                        <a:t>w=0.8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5000"/>
                            <a:lumMod val="67000"/>
                            <a:lumOff val="33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202020"/>
                          </a:solidFill>
                          <a:sym typeface="+mn-ea"/>
                        </a:rPr>
                        <a:t>w=0.7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5000"/>
                            <a:lumMod val="67000"/>
                            <a:lumOff val="33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202020"/>
                          </a:solidFill>
                          <a:sym typeface="+mn-ea"/>
                        </a:rPr>
                        <a:t>w=0.5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5000"/>
                            <a:lumMod val="67000"/>
                            <a:lumOff val="33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202020"/>
                          </a:solidFill>
                          <a:sym typeface="+mn-ea"/>
                        </a:rPr>
                        <a:t>w=0.3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5000"/>
                            <a:lumMod val="67000"/>
                            <a:lumOff val="33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202020"/>
                          </a:solidFill>
                          <a:sym typeface="+mn-ea"/>
                        </a:rPr>
                        <a:t>w=0.2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5000"/>
                            <a:lumMod val="67000"/>
                            <a:lumOff val="33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</a:tr>
              <a:tr h="408940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en-US" b="1"/>
                        <a:t>Period 1</a:t>
                      </a:r>
                      <a:endParaRPr lang="en-US" b="1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3000"/>
                            <a:lumMod val="63000"/>
                            <a:lumOff val="37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0.9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0.8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0.7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0.5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0.2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</a:tr>
              <a:tr h="4089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>
                          <a:sym typeface="+mn-ea"/>
                        </a:rPr>
                        <a:t>Period 2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100000">
                          <a:srgbClr val="7C5E29">
                            <a:alpha val="63000"/>
                            <a:lumMod val="63000"/>
                            <a:lumOff val="37000"/>
                          </a:srgbClr>
                        </a:gs>
                        <a:gs pos="0">
                          <a:srgbClr val="CAAF4E">
                            <a:alpha val="40000"/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0.8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0.7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0.4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0.2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0.1</a:t>
                      </a:r>
                      <a:endParaRPr lang="en-US"/>
                    </a:p>
                  </a:txBody>
                  <a:tcPr marB="0" anchor="ctr" anchorCtr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  <a:alpha val="100000"/>
                          </a:schemeClr>
                        </a:gs>
                        <a:gs pos="62000">
                          <a:srgbClr val="A3882B">
                            <a:alpha val="38000"/>
                            <a:lumMod val="38000"/>
                            <a:lumOff val="62000"/>
                          </a:srgb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>
                <a:spLocks noGrp="1"/>
              </p:cNvSpPr>
              <p:nvPr>
                <p:custDataLst>
                  <p:tags r:id="rId1"/>
                </p:custDataLst>
              </p:nvPr>
            </p:nvSpPr>
            <p:spPr>
              <a:xfrm>
                <a:off x="256540" y="-75565"/>
                <a:ext cx="7174230" cy="73215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lnSpcReduction="20000"/>
              </a:bodyPr>
              <a:lstStyle>
                <a:lvl1pPr algn="ctr" defTabSz="914400" rtl="0" eaLnBrk="1" latinLnBrk="0" hangingPunct="1">
                  <a:lnSpc>
                    <a:spcPct val="13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zh-CN" sz="3000" b="1" dirty="0">
                    <a:effectLst/>
                    <a:latin typeface="Apple SD Gothic Neo Bold" panose="02000300000000000000" charset="-127"/>
                    <a:ea typeface="Apple SD Gothic Neo Bold" panose="02000300000000000000" charset="-127"/>
                    <a:cs typeface="Academy Engraved LET" panose="02000000000000000000" charset="0"/>
                  </a:rPr>
                  <a:t>02 - Scaling Methods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𝑽</m:t>
                        </m:r>
                      </m:e>
                      <m:sub>
                        <m: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𝟎</m:t>
                        </m:r>
                      </m:sub>
                    </m:sSub>
                    <m:r>
                      <a:rPr lang="en-US" altLang="zh-CN" sz="3000" b="1" i="1" dirty="0">
                        <a:effectLst/>
                        <a:latin typeface="DejaVu Math TeX Gyre" panose="02000503000000000000" charset="0"/>
                        <a:ea typeface="Apple SD Gothic Neo Bold" panose="02000300000000000000" charset="-127"/>
                        <a:cs typeface="DejaVu Math TeX Gyre" panose="02000503000000000000" charset="0"/>
                      </a:rPr>
                      <m:t>, </m:t>
                    </m:r>
                    <m:sSub>
                      <m:sSubPr>
                        <m:ctrlP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𝑼</m:t>
                        </m:r>
                      </m:e>
                      <m:sub>
                        <m: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𝟎</m:t>
                        </m:r>
                      </m:sub>
                    </m:sSub>
                    <m:r>
                      <a:rPr lang="en-US" altLang="zh-CN" sz="3000" b="1" i="1" dirty="0">
                        <a:effectLst/>
                        <a:latin typeface="DejaVu Math TeX Gyre" panose="02000503000000000000" charset="0"/>
                        <a:ea typeface="Apple SD Gothic Neo Bold" panose="02000300000000000000" charset="-127"/>
                        <a:cs typeface="DejaVu Math TeX Gyre" panose="02000503000000000000" charset="0"/>
                      </a:rPr>
                      <m:t>, </m:t>
                    </m:r>
                    <m:sSub>
                      <m:sSubPr>
                        <m:ctrlP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𝒀</m:t>
                        </m:r>
                      </m:e>
                      <m:sub>
                        <m:r>
                          <a:rPr lang="en-US" altLang="zh-CN" sz="3000" b="1" i="1" dirty="0">
                            <a:effectLst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sz="3000" b="1" i="1" dirty="0">
                  <a:effectLst/>
                  <a:latin typeface="Apple SD Gothic Neo Bold" panose="02000300000000000000" charset="-127"/>
                  <a:ea typeface="Apple SD Gothic Neo Bold" panose="02000300000000000000" charset="-127"/>
                  <a:cs typeface="Academy Engraved LET" panose="02000000000000000000" charset="0"/>
                </a:endParaRPr>
              </a:p>
            </p:txBody>
          </p:sp>
        </mc:Choice>
        <mc:Fallback>
          <p:sp>
            <p:nvSpPr>
              <p:cNvPr id="6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56540" y="-75565"/>
                <a:ext cx="7174230" cy="7321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>
            <p:custDataLst>
              <p:tags r:id="rId4"/>
            </p:custDataLst>
          </p:nvPr>
        </p:nvCxnSpPr>
        <p:spPr>
          <a:xfrm>
            <a:off x="179705" y="65659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79705" y="753110"/>
                <a:ext cx="11582400" cy="576516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indent="0" algn="l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For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𝑉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to be constrained within [0,1] using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 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𝑑𝑈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𝑡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=</m:t>
                    </m:r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 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𝑈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𝑡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(</m:t>
                    </m:r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 </m:t>
                    </m:r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1−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𝑈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𝑡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)</m:t>
                    </m:r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</a:rPr>
                          <m:t>𝑉</m:t>
                        </m:r>
                      </m:sup>
                    </m:sSubSup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" panose="02000300000000000000" charset="-127"/>
                        <a:cs typeface="DejaVu Math TeX Gyre" panose="02000503000000000000" charset="0"/>
                      </a:rPr>
                      <m:t>𝑑𝑡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combined with torch.clamp(0,1) (same goes for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 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, 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), their initial values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, 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) should also falls within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[0,1]. </a:t>
                </a:r>
                <a:endParaRPr lang="en-US" altLang="zh-CN" sz="2000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endParaRPr lang="en-US" altLang="zh-CN" sz="2000" b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 Bold" panose="02000300000000000000" charset="-127"/>
                  <a:ea typeface="Apple SD Gothic Neo Bold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r>
                  <a:rPr lang="en-US" altLang="zh-CN" sz="2000" b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To do so, we “scale”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𝟎</m:t>
                        </m:r>
                      </m:sub>
                    </m:sSub>
                    <m:r>
                      <a:rPr lang="en-US" altLang="zh-CN" sz="2000" b="1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,</m:t>
                    </m:r>
                    <m:sSub>
                      <m:sSubPr>
                        <m:ctrlP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𝑼</m:t>
                        </m:r>
                      </m:e>
                      <m:sub>
                        <m: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𝟎</m:t>
                        </m:r>
                      </m:sub>
                    </m:sSub>
                    <m:r>
                      <a:rPr lang="en-US" altLang="zh-CN" sz="2000" b="1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Apple SD Gothic Neo Bold" panose="02000300000000000000" charset="-127"/>
                        <a:ea typeface="Apple SD Gothic Neo Bold" panose="02000300000000000000" charset="-127"/>
                        <a:cs typeface="Apple SD Gothic Neo Regular" panose="02000300000000000000" charset="-127"/>
                      </a:rPr>
                      <m:t>, </m:t>
                    </m:r>
                    <m:sSub>
                      <m:sSubPr>
                        <m:ctrlP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Apple SD Gothic Neo Bold" panose="02000300000000000000" charset="-127"/>
                            <a:ea typeface="Apple SD Gothic Neo Bold" panose="02000300000000000000" charset="-127"/>
                            <a:cs typeface="Apple SD Gothic Neo Regular" panose="02000300000000000000" charset="-127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 using </a:t>
                </a:r>
                <a:r>
                  <a:rPr lang="en-US" altLang="zh-CN" sz="2000" b="1" dirty="0">
                    <a:solidFill>
                      <a:schemeClr val="accent3">
                        <a:lumMod val="75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1) Sigmoid and 2) MinMax</a:t>
                </a:r>
                <a:r>
                  <a:rPr lang="en-US" altLang="zh-CN" sz="2000" b="1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b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scaling methods. </a:t>
                </a:r>
                <a:r>
                  <a:rPr lang="en-US" altLang="zh-CN" sz="2000" b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Generally:</a:t>
                </a:r>
                <a:endParaRPr lang="en-US" altLang="zh-CN" sz="2000" b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 Bold" panose="02000300000000000000" charset="-127"/>
                  <a:ea typeface="Apple SD Gothic Neo Bold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Sigmoid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is more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numerically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stable </a:t>
                </a:r>
                <a:endParaRPr lang="en-US" altLang="zh-CN" sz="2000" dirty="0">
                  <a:solidFill>
                    <a:schemeClr val="accent3">
                      <a:lumMod val="75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Sigmoid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leads to</a:t>
                </a:r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smaller loss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(when all other factors/methods/parameters are the same)</a:t>
                </a:r>
                <a:endParaRPr lang="en-US" altLang="zh-CN" i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Sigmoid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leads to a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accent3">
                        <a:lumMod val="75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more stable price level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(basically a straight line with no up/downward trends)</a:t>
                </a:r>
                <a:endParaRPr lang="en-US" altLang="zh-CN" sz="2000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endParaRPr lang="en-US" altLang="zh-CN" sz="2000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r>
                  <a:rPr lang="en-US" altLang="zh-CN" sz="2000" b="1" i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But the defference it makes is not that notable/major. </a:t>
                </a:r>
                <a:endParaRPr lang="en-US" altLang="zh-CN" sz="2000" b="1" i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 Bold" panose="02000300000000000000" charset="-127"/>
                  <a:ea typeface="Apple SD Gothic Neo Bold" panose="02000300000000000000" charset="-127"/>
                  <a:cs typeface="Apple SD Gothic Neo Regular" panose="02000300000000000000" charset="-127"/>
                  <a:sym typeface="+mn-ea"/>
                </a:endParaRPr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79705" y="753110"/>
                <a:ext cx="11582400" cy="57651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6540" y="-75565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03 - Target &amp; Loss Functions 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p:cxnSp>
        <p:nvCxnSpPr>
          <p:cNvPr id="4" name="Straight Connector 3"/>
          <p:cNvCxnSpPr/>
          <p:nvPr>
            <p:custDataLst>
              <p:tags r:id="rId2"/>
            </p:custDataLst>
          </p:nvPr>
        </p:nvCxnSpPr>
        <p:spPr>
          <a:xfrm>
            <a:off x="179705" y="680085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3500" y="799465"/>
                <a:ext cx="12129135" cy="602361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indent="0" algn="l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There are 3 types of learning targets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𝑇1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𝑇1</m:t>
                        </m:r>
                      </m:sub>
                    </m:sSub>
                    <m:r>
                      <a:rPr lang="en-US" altLang="zh-CN" sz="2000" i="1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, 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" panose="02000300000000000000" charset="-127"/>
                            <a:cs typeface="DejaVu Math TeX Gyre" panose="02000503000000000000" charset="0"/>
                          </a:rPr>
                          <m:t>𝑇2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 : 1) indicator, 2) sigmoid, and 3) logit. And 3 types of Loss Functions: 1) MSELoss, 2) BCELoss, and 3) BCEWithLogitsLoss.</a:t>
                </a:r>
                <a:r>
                  <a:rPr lang="en-US" altLang="zh-CN" sz="2000" b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So there are </a:t>
                </a:r>
                <a:r>
                  <a:rPr lang="en-US" altLang="zh-CN" sz="2000" b="1" dirty="0">
                    <a:solidFill>
                      <a:srgbClr val="C5861C"/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4 types of valid combos: </a:t>
                </a:r>
                <a:endParaRPr lang="en-US" altLang="zh-CN" sz="2000" b="1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Bold" panose="02000300000000000000" charset="-127"/>
                  <a:ea typeface="Apple SD Gothic Neo Bold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indicator</a:t>
                </a: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+ BCELoss </a:t>
                </a:r>
                <a:endParaRPr lang="en-US" altLang="zh-CN" sz="2000" dirty="0">
                  <a:solidFill>
                    <a:srgbClr val="C5861C"/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indicator + MSELoss</a:t>
                </a:r>
                <a:endParaRPr lang="en-US" altLang="zh-CN" sz="2000" dirty="0">
                  <a:solidFill>
                    <a:srgbClr val="C5861C"/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sigomid + MSELoss</a:t>
                </a:r>
                <a:endParaRPr lang="en-US" altLang="zh-CN" sz="2000" dirty="0">
                  <a:solidFill>
                    <a:srgbClr val="C5861C"/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logit + </a:t>
                </a: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BCEWithLogitsLoss</a:t>
                </a:r>
                <a:r>
                  <a:rPr lang="en-US" altLang="zh-CN" sz="2000" b="1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Bold" panose="02000300000000000000" charset="-127"/>
                    <a:ea typeface="Apple SD Gothic Neo Bold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(using the logit transformation but the target is actually still indicator)</a:t>
                </a:r>
                <a:endParaRPr lang="en-US" altLang="zh-CN" i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endParaRPr lang="en-US" altLang="zh-CN" sz="2000" b="1" i="1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indent="0" algn="l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Generally speaking:</a:t>
                </a:r>
                <a:endParaRPr lang="en-US" altLang="zh-CN" sz="2000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“sigomid + MSELoss” &amp; “indicator + MSELoss”  converge best and have stable price levels.</a:t>
                </a:r>
                <a:endParaRPr lang="en-US" altLang="zh-CN" sz="2000" dirty="0">
                  <a:solidFill>
                    <a:srgbClr val="C5861C"/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“logit + BCEWithLogitsLoss” shows trends in prices.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(But these trends are not signoficant, especially when paried with “sigmoid scaling method”)</a:t>
                </a:r>
                <a:endParaRPr lang="en-US" altLang="zh-CN" i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457200" indent="-457200" algn="l">
                  <a:lnSpc>
                    <a:spcPct val="150000"/>
                  </a:lnSpc>
                  <a:buAutoNum type="arabicPeriod"/>
                </a:pP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“indic</a:t>
                </a:r>
                <a:r>
                  <a:rPr lang="en-US" altLang="zh-CN" sz="2000" dirty="0">
                    <a:solidFill>
                      <a:srgbClr val="C5861C"/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ator + BCELoss” has rather stable prices but is the hardest to learn/converge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 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(U-shape Loss, thus requires learning rate)</a:t>
                </a:r>
                <a:endParaRPr lang="en-US" altLang="zh-CN" i="1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" panose="02000300000000000000" charset="-127"/>
                  <a:sym typeface="+mn-ea"/>
                </a:endParaRPr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3500" y="799465"/>
                <a:ext cx="12129135" cy="60236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6540" y="-75565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04 - Learning Rate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p:cxnSp>
        <p:nvCxnSpPr>
          <p:cNvPr id="4" name="Straight Connector 3"/>
          <p:cNvCxnSpPr/>
          <p:nvPr>
            <p:custDataLst>
              <p:tags r:id="rId2"/>
            </p:custDataLst>
          </p:nvPr>
        </p:nvCxnSpPr>
        <p:spPr>
          <a:xfrm>
            <a:off x="179705" y="65659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>
            <p:custDataLst>
              <p:tags r:id="rId3"/>
            </p:custDataLst>
          </p:nvPr>
        </p:nvSpPr>
        <p:spPr>
          <a:xfrm>
            <a:off x="63500" y="799465"/>
            <a:ext cx="12129135" cy="6023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For</a:t>
            </a:r>
            <a:r>
              <a:rPr lang="en-US" altLang="zh-CN" sz="2000" dirty="0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 </a:t>
            </a:r>
            <a:r>
              <a:rPr lang="en-US" altLang="zh-CN" sz="2000" dirty="0">
                <a:solidFill>
                  <a:srgbClr val="C5861C"/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“</a:t>
            </a:r>
            <a:r>
              <a:rPr lang="en-US" altLang="zh-CN" sz="2000" dirty="0">
                <a:solidFill>
                  <a:srgbClr val="C5861C"/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indicator + BCELoss”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, which is the hardest to learn/converge, a </a:t>
            </a:r>
            <a:r>
              <a:rPr lang="en-US" altLang="zh-CN" sz="2000" dirty="0">
                <a:solidFill>
                  <a:srgbClr val="C5861C"/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small</a:t>
            </a:r>
            <a:r>
              <a:rPr lang="en-US" altLang="zh-CN" sz="2000" dirty="0">
                <a:solidFill>
                  <a:srgbClr val="C5861C"/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 learning rate</a:t>
            </a:r>
            <a:r>
              <a:rPr lang="en-US" altLang="zh-CN" sz="2000" dirty="0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 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is required. E.g. 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effectLst/>
              <a:uFillTx/>
              <a:latin typeface="Apple SD Gothic Neo" panose="02000300000000000000" charset="-127"/>
              <a:ea typeface="Apple SD Gothic Neo" panose="02000300000000000000" charset="-127"/>
              <a:cs typeface="Apple SD Gothic Neo" panose="02000300000000000000" charset="-127"/>
              <a:sym typeface="+mn-ea"/>
            </a:endParaRPr>
          </a:p>
          <a:p>
            <a:pPr marL="914400" lvl="1" indent="-457200" algn="l">
              <a:lnSpc>
                <a:spcPct val="150000"/>
              </a:lnSpc>
              <a:buAutoNum type="arabicPeriod"/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When </a:t>
            </a:r>
            <a:r>
              <a:rPr lang="en-US" altLang="zh-CN" sz="2000" dirty="0">
                <a:solidFill>
                  <a:srgbClr val="C5861C"/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lr=0.0001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, converges well. 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effectLst/>
              <a:uFillTx/>
              <a:latin typeface="Apple SD Gothic Neo" panose="02000300000000000000" charset="-127"/>
              <a:ea typeface="Apple SD Gothic Neo" panose="02000300000000000000" charset="-127"/>
              <a:cs typeface="Apple SD Gothic Neo" panose="02000300000000000000" charset="-127"/>
              <a:sym typeface="+mn-ea"/>
            </a:endParaRPr>
          </a:p>
          <a:p>
            <a:pPr marL="914400" lvl="1" indent="-457200" algn="l">
              <a:lnSpc>
                <a:spcPct val="150000"/>
              </a:lnSpc>
              <a:buAutoNum type="arabicPeriod"/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When lr=0.001, converges badly, i.e. U-shape loss curve. 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effectLst/>
              <a:uFillTx/>
              <a:latin typeface="Apple SD Gothic Neo" panose="02000300000000000000" charset="-127"/>
              <a:ea typeface="Apple SD Gothic Neo" panose="02000300000000000000" charset="-127"/>
              <a:cs typeface="Apple SD Gothic Neo" panose="02000300000000000000" charset="-127"/>
              <a:sym typeface="+mn-ea"/>
            </a:endParaRPr>
          </a:p>
          <a:p>
            <a:pPr marL="914400" lvl="1" indent="-457200" algn="l">
              <a:lnSpc>
                <a:spcPct val="150000"/>
              </a:lnSpc>
              <a:buAutoNum type="arabicPeriod"/>
            </a:pPr>
            <a:endParaRPr lang="en-US" altLang="zh-CN" sz="2000" dirty="0">
              <a:solidFill>
                <a:schemeClr val="accent3">
                  <a:lumMod val="50000"/>
                </a:schemeClr>
              </a:solidFill>
              <a:effectLst/>
              <a:uFillTx/>
              <a:latin typeface="Apple SD Gothic Neo" panose="02000300000000000000" charset="-127"/>
              <a:ea typeface="Apple SD Gothic Neo" panose="02000300000000000000" charset="-127"/>
              <a:cs typeface="Apple SD Gothic Neo" panose="02000300000000000000" charset="-127"/>
              <a:sym typeface="+mn-ea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For </a:t>
            </a:r>
            <a:r>
              <a:rPr lang="en-US" altLang="zh-CN" sz="2000" dirty="0">
                <a:solidFill>
                  <a:srgbClr val="C5861C"/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other 3 combos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, </a:t>
            </a:r>
            <a:r>
              <a:rPr lang="en-US" altLang="zh-CN" sz="2000" dirty="0">
                <a:solidFill>
                  <a:srgbClr val="C5861C"/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lr=0.001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 is sufficiently small. </a:t>
            </a:r>
            <a:r>
              <a:rPr lang="en-US" altLang="zh-CN" i="1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" panose="02000300000000000000" charset="-127"/>
                <a:sym typeface="+mn-ea"/>
              </a:rPr>
              <a:t>(Yet lr=0.01 would make it harder to converge in some cases)</a:t>
            </a:r>
            <a:endParaRPr lang="en-US" altLang="zh-CN" i="1" dirty="0">
              <a:solidFill>
                <a:schemeClr val="bg2">
                  <a:lumMod val="50000"/>
                </a:schemeClr>
              </a:solidFill>
              <a:effectLst/>
              <a:uFillTx/>
              <a:latin typeface="Apple SD Gothic Neo" panose="02000300000000000000" charset="-127"/>
              <a:ea typeface="Apple SD Gothic Neo" panose="02000300000000000000" charset="-127"/>
              <a:cs typeface="Apple SD Gothic Neo" panose="02000300000000000000" charset="-127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i="1" dirty="0">
              <a:solidFill>
                <a:schemeClr val="bg2">
                  <a:lumMod val="50000"/>
                </a:schemeClr>
              </a:solidFill>
              <a:effectLst/>
              <a:uFillTx/>
              <a:latin typeface="Apple SD Gothic Neo" panose="02000300000000000000" charset="-127"/>
              <a:ea typeface="Apple SD Gothic Neo" panose="02000300000000000000" charset="-127"/>
              <a:cs typeface="Apple SD Gothic Neo" panose="02000300000000000000" charset="-127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688*96"/>
  <p:tag name="TABLE_ENDDRAG_RECT" val="96*403*688*96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2403</Words>
  <Application>WPS Presentation</Application>
  <PresentationFormat>宽屏</PresentationFormat>
  <Paragraphs>86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Apple SD Gothic Neo Bold</vt:lpstr>
      <vt:lpstr>Academy Engraved LET</vt:lpstr>
      <vt:lpstr>Apple SD Gothic Neo Regular</vt:lpstr>
      <vt:lpstr>Apple SD Gothic Neo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DejaVu Math TeX Gyre</vt:lpstr>
      <vt:lpstr>宋体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敖樱芝</cp:lastModifiedBy>
  <cp:revision>14</cp:revision>
  <dcterms:created xsi:type="dcterms:W3CDTF">2024-08-06T23:10:25Z</dcterms:created>
  <dcterms:modified xsi:type="dcterms:W3CDTF">2024-08-06T23:10:25Z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1033-6.8.2.8850</vt:lpwstr>
  </property>
  <property fmtid="{D5CDD505-2E9C-101B-9397-08002B2CF9AE}" pid="3" name="ICV">
    <vt:lpwstr>A03B64A3BE0792430DB6A266A90A2CFE_41</vt:lpwstr>
  </property>
</Properties>
</file>